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mp; data" id="{518b88e5-8419-7e74-cfc4-f455f4f3b533}">
          <p14:sldIdLst>
            <p14:sldId id="256"/>
            <p14:sldId id="257"/>
            <p14:sldId id="258"/>
          </p14:sldIdLst>
        </p14:section>
        <p14:section name="Method" id="{9a4268b1-3494-1349-9aa9-eb391873b2f4}">
          <p14:sldIdLst>
            <p14:sldId id="259"/>
            <p14:sldId id="260"/>
          </p14:sldIdLst>
        </p14:section>
        <p14:section name="Results" id="{ff5ba46a-44b2-5adf-9e6d-20a6238e001d}">
          <p14:sldIdLst>
            <p14:sldId id="261"/>
            <p14:sldId id="262"/>
            <p14:sldId id="263"/>
            <p14:sldId id="264"/>
            <p14:sldId id="265"/>
            <p14:sldId id="266"/>
            <p14:sldId id="267"/>
            <p14:sldId id="268"/>
          </p14:sldIdLst>
        </p14:section>
        <p14:section name="Business insight &amp; next steps" id="{37c1a1f4-5c76-31a0-7f46-14ef89577755}">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weekly unit forecasts, 13 weeks ahead, for every store x product-family series. Set the tone: leakage-safe validation, honest uncertainty, explainable drivers. About 12 minutes in total; roughly 45 seconds per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supplied files are the Store Sales retail dataset, not the FMCG schema in the brief. We mapped store to market and product family to SKU. Price, weather, media and distribution are not in the data, so they cannot be modelled or ablated - we use proxies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surprise: whole product families vanish for months and then return - about 5 percent of active data, mostly 2014-15. We treat these as reporting gaps, not zero demand, and mask them from training targets using only knowledge available at each fold origin. Promotion tracking only starts 31 March 2014, so earlier promo values are missing, not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global gradient-boosting model serves all series and horizons; the horizon is a feature. The target is the log deviation from each series own recent run-rate, so the trees learn drivers rather than 1,782 volume scales. A 10 percent blend of seasonal-naive adds a little robustness. Rules handle never-sold and delisted series; conformal calibration gives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expanding-window folds, each forecasting 13 weeks, tile the last 52 observed weeks, so every season including Christmas and Carnival is tested once out-of-sample. The model for each fold only sees targets up to its origin. A unit test scrambles all post-origin data and checks that features do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Pooled over four folds and 85,695 series-weeks: naive 11.4 percent WMAPE, global GBM 9.7, ensemble 9.6. RMSLE falls from 0.51 to 0.40. Be honest: the ensemble adds little over the GBM alone, and in fold 3 the margin over naive is thin. Bias is a mild under-forecast of about 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grows with horizon, from about 7 percent in week 1 to 12 to 14 percent by weeks 12 and 13. The model equals naive at week 1 and wins at most horizons, but is slightly worse than naive at weeks 10 and 11. Bias stays within a few percent, mostly a mild under-forecast.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15 largest families; the ensemble beats naive in nearly all of them. Right: every store as a dot against its naive error; points below the diagonal are better than naive - 53 of 54 stores. Store types A to E all improve by 10 to 20 percent relative. Small-volume series are the weak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Summing the series forecasts bottom-up gives coherent totals. Total weekly units are forecast within 5.2 percent WMAPE; family-week 6.3; store-week 7.4. This matters for inventory planning, where aggregate error is what drives stock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Intervals are calibrated on folds 1 to 3 residuals, by horizon bin and volume tier, and tested on the untouched fold 4: 90 percent intervals cover 91.4 percent, 50 percent intervals 51.8 percent. Coverage is slightly low at week 13 for the 50 percent band, and the large-volume tier is mildly conservative.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the cost of removing one driver group and re-training. Seasonal lags matter most (9 percent relative WMAPE), then promotions and calendar. Store traffic is neutral. Oil helps WMAPE a little but not RMSLE - treat it cautiously. The availability proxy slightly hurts WMAPE but helps small series on RMSLE: a mixed result we report as is. Price and weather cannot be tested because they are not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five automatically selected series we compute exact Shapley values over eight driver groups. Read each bar as the effect on that series' forecast relative to a typical series' average. Attributions sum exactly to the model output - verified. Permutation importance (global) ranks promotions first on RMSLE, then momentum and scale; oil shows zero by construction, so the ablation is the evidence for 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illustrative series: the highest-volume, the most promotion-exposed, the strongest seasonal swing, a cold-start series (store 52 opened in April 2017) and a mid-volume series. Note how bands widen with horizon and how the cold-start series gets a sensible level from its short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Re-running the trained model with modified known inputs. Withdrawing all promotions lowers demand about 7 percent; +25, +50 and double intensity lift demand 1.1, 2.2 and 4.0 percent - roughly linear, mildly diminishing (extrapolation is capped). Caveats: these are associations from history, not causal experiments. At extremes the model can overreach: school supplies drops 96 percent with no promotions, which is not credible. The traffic shock barely moves the forecast because the model hardly uses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what goes beyond the brief and was evidenced: the leakage test, the gap-aware training, the seasonal exception to the delisting rule which fixed a measured problem, conformal intervals checked on a held-out fold, exact Shapley, and a scenario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view of what to trust. Use the forecasts for aggregate planning and for large and mid-volume lines; treat small-volume series with more caution. Provide the promotion plan to improve results. Run a controlled test before relying on scenario lifts. Retrain monthly and monitor bias and interval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end to end from one command on a single CPU. Tests use a tiny synthetic dataset so they run in about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0" y="4800600"/>
            <a:ext cx="9144000" cy="342900"/>
          </a:xfrm>
          <a:prstGeom prst="rect">
            <a:avLst/>
          </a:prstGeom>
          <a:solidFill>
            <a:srgbClr val="E07A1F"/>
          </a:solidFill>
          <a:ln/>
        </p:spPr>
      </p:sp>
      <p:sp>
        <p:nvSpPr>
          <p:cNvPr id="3" name="Text 1"/>
          <p:cNvSpPr/>
          <p:nvPr>
            <p:ph idx="101" type="title" hasCustomPrompt="1"/>
          </p:nvPr>
        </p:nvSpPr>
        <p:spPr>
          <a:xfrm>
            <a:off x="640080" y="1463040"/>
            <a:ext cx="7863840" cy="1188720"/>
          </a:xfrm>
          <a:prstGeom prst="rect">
            <a:avLst/>
          </a:prstGeom>
          <a:noFill/>
          <a:ln/>
        </p:spPr>
        <p:txBody>
          <a:bodyPr wrap="square" rtlCol="0"/>
          <a:lstStyle>
            <a:lvl1pPr indent="0" marL="0">
              <a:buNone/>
              <a:defRPr lang="en-US" sz="3800" b="1" dirty="0">
                <a:solidFill>
                  <a:srgbClr val="FFFFFF"/>
                </a:solidFill>
                <a:latin typeface="Calibri" pitchFamily="34" charset="0"/>
                <a:ea typeface="Calibri" pitchFamily="34" charset="-122"/>
                <a:cs typeface="Calibri" pitchFamily="34" charset="-120"/>
              </a:defRPr>
            </a:lvl1pPr>
          </a:lstStyle>
          <a:p>
            <a:pPr indent="0" marL="0">
              <a:buNone/>
            </a:pPr>
            <a:endParaRPr lang="en-US" sz="3800" dirty="0"/>
          </a:p>
        </p:txBody>
      </p:sp>
      <p:sp>
        <p:nvSpPr>
          <p:cNvPr id="4" name="Text 1"/>
          <p:cNvSpPr/>
          <p:nvPr>
            <p:ph idx="102" type="body" hasCustomPrompt="1"/>
          </p:nvPr>
        </p:nvSpPr>
        <p:spPr>
          <a:xfrm>
            <a:off x="640080" y="2788920"/>
            <a:ext cx="7863840" cy="914400"/>
          </a:xfrm>
          <a:prstGeom prst="rect">
            <a:avLst/>
          </a:prstGeom>
          <a:noFill/>
          <a:ln/>
        </p:spPr>
        <p:txBody>
          <a:bodyPr wrap="square" rtlCol="0"/>
          <a:lstStyle>
            <a:lvl1pPr indent="0" marL="0">
              <a:buNone/>
              <a:defRPr lang="en-US" sz="1800" dirty="0">
                <a:solidFill>
                  <a:srgbClr val="CFE0EE"/>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F5F8B"/>
          </a:solidFill>
          <a:ln/>
        </p:spPr>
      </p:sp>
      <p:sp>
        <p:nvSpPr>
          <p:cNvPr id="3" name="Text 1"/>
          <p:cNvSpPr/>
          <p:nvPr>
            <p:ph idx="101" type="title" hasCustomPrompt="1"/>
          </p:nvPr>
        </p:nvSpPr>
        <p:spPr>
          <a:xfrm>
            <a:off x="411480" y="201168"/>
            <a:ext cx="8321040" cy="685800"/>
          </a:xfrm>
          <a:prstGeom prst="rect">
            <a:avLst/>
          </a:prstGeom>
          <a:noFill/>
          <a:ln/>
        </p:spPr>
        <p:txBody>
          <a:bodyPr wrap="square" rtlCol="0"/>
          <a:lstStyle>
            <a:lvl1pPr indent="0" marL="0">
              <a:buNone/>
              <a:defRPr lang="en-US" sz="2400" b="1" dirty="0">
                <a:solidFill>
                  <a:srgbClr val="1B2A41"/>
                </a:solidFill>
                <a:latin typeface="Calibri" pitchFamily="34" charset="0"/>
                <a:ea typeface="Calibri" pitchFamily="34" charset="-122"/>
                <a:cs typeface="Calibri" pitchFamily="34" charset="-120"/>
              </a:defRPr>
            </a:lvl1pPr>
          </a:lstStyle>
          <a:p>
            <a:pPr indent="0" marL="0">
              <a:buNone/>
            </a:pPr>
            <a:endParaRPr lang="en-US" sz="2400" dirty="0"/>
          </a:p>
        </p:txBody>
      </p:sp>
      <p:sp>
        <p:nvSpPr>
          <p:cNvPr id="4" name="Shape 1"/>
          <p:cNvSpPr/>
          <p:nvPr/>
        </p:nvSpPr>
        <p:spPr>
          <a:xfrm>
            <a:off x="411480" y="896112"/>
            <a:ext cx="8321040" cy="0"/>
          </a:xfrm>
          <a:prstGeom prst="line">
            <a:avLst/>
          </a:prstGeom>
          <a:noFill/>
          <a:ln w="12700">
            <a:solidFill>
              <a:srgbClr val="D5DDE5"/>
            </a:solidFill>
            <a:prstDash val="solid"/>
          </a:ln>
        </p:spPr>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1463040"/>
            <a:ext cx="7863840" cy="1188720"/>
          </a:xfrm>
          <a:prstGeom prst="rect">
            <a:avLst/>
          </a:prstGeom>
          <a:noFill/>
          <a:ln/>
        </p:spPr>
        <p:txBody>
          <a:bodyPr wrap="square" rtlCol="0" anchor="b"/>
          <a:lstStyle/>
          <a:p>
            <a:pPr indent="0" marL="0">
              <a:buNone/>
            </a:pPr>
            <a:r>
              <a:rPr lang="en-US" sz="3800" b="1" dirty="0">
                <a:solidFill>
                  <a:srgbClr val="FFFFFF"/>
                </a:solidFill>
                <a:latin typeface="Calibri" pitchFamily="34" charset="0"/>
                <a:ea typeface="Calibri" pitchFamily="34" charset="-122"/>
                <a:cs typeface="Calibri" pitchFamily="34" charset="-120"/>
              </a:rPr>
              <a:t>FreshBasket demand forecasting</a:t>
            </a:r>
            <a:endParaRPr lang="en-US" sz="3800" dirty="0"/>
          </a:p>
        </p:txBody>
      </p:sp>
      <p:sp>
        <p:nvSpPr>
          <p:cNvPr id="3" name="Text 1"/>
          <p:cNvSpPr/>
          <p:nvPr>
            <p:ph idx="102" type="body" hasCustomPrompt="1"/>
          </p:nvPr>
        </p:nvSpPr>
        <p:spPr>
          <a:xfrm>
            <a:off x="640080" y="2788920"/>
            <a:ext cx="7863840" cy="914400"/>
          </a:xfrm>
          <a:prstGeom prst="rect">
            <a:avLst/>
          </a:prstGeom>
          <a:noFill/>
          <a:ln/>
        </p:spPr>
        <p:txBody>
          <a:bodyPr wrap="square" rtlCol="0" anchor="t"/>
          <a:lstStyle/>
          <a:p>
            <a:pPr indent="0" marL="0">
              <a:buNone/>
            </a:pPr>
            <a:r>
              <a:rPr lang="en-US" sz="1800" dirty="0">
                <a:solidFill>
                  <a:srgbClr val="CFE0EE"/>
                </a:solidFill>
                <a:latin typeface="Calibri" pitchFamily="34" charset="0"/>
                <a:ea typeface="Calibri" pitchFamily="34" charset="-122"/>
                <a:cs typeface="Calibri" pitchFamily="34" charset="-120"/>
              </a:rPr>
              <a:t>13-week forecasts for 1,782 SKU-market series: hybrid global gradient boosting, calibrated uncertainty, driver attribution and scenario simulation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The task, and what the data actually allowed</a:t>
            </a:r>
            <a:endParaRPr lang="en-US" sz="2400" dirty="0"/>
          </a:p>
        </p:txBody>
      </p:sp>
      <p:sp>
        <p:nvSpPr>
          <p:cNvPr id="4" name="Text 1"/>
          <p:cNvSpPr txBox="1"/>
          <p:nvPr/>
        </p:nvSpPr>
        <p:spPr>
          <a:xfrm>
            <a:off x="411480" y="1051560"/>
            <a:ext cx="4572000" cy="365760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1B2A41"/>
                </a:solidFill>
                <a:latin typeface="Calibri" pitchFamily="34" charset="0"/>
                <a:ea typeface="Calibri" pitchFamily="34" charset="-122"/>
                <a:cs typeface="Calibri" pitchFamily="34" charset="-120"/>
              </a:rPr>
              <a:t>Goal: weekly unit forecasts for the next 13 weeks, with uncertainty, drivers and what-if scenarios</a:t>
            </a:r>
            <a:endParaRPr lang="en-US" sz="1400" dirty="0"/>
          </a:p>
          <a:p>
            <a:pPr marL="342900" indent="-342900">
              <a:spcAft>
                <a:spcPts val="600"/>
              </a:spcAft>
              <a:buSzPct val="100000"/>
              <a:buChar char="•"/>
            </a:pPr>
            <a:r>
              <a:rPr lang="en-US" sz="1400" dirty="0">
                <a:solidFill>
                  <a:srgbClr val="1B2A41"/>
                </a:solidFill>
                <a:latin typeface="Calibri" pitchFamily="34" charset="0"/>
                <a:ea typeface="Calibri" pitchFamily="34" charset="-122"/>
                <a:cs typeface="Calibri" pitchFamily="34" charset="-120"/>
              </a:rPr>
              <a:t>Supplied files: train, test, stores, transactions, oil, holidays - not the FMCG schema in the brief</a:t>
            </a:r>
            <a:endParaRPr lang="en-US" sz="1400" dirty="0"/>
          </a:p>
          <a:p>
            <a:pPr marL="342900" indent="-342900">
              <a:spcAft>
                <a:spcPts val="600"/>
              </a:spcAft>
              <a:buSzPct val="100000"/>
              <a:buChar char="•"/>
            </a:pPr>
            <a:r>
              <a:rPr lang="en-US" sz="1400" dirty="0">
                <a:solidFill>
                  <a:srgbClr val="1B2A41"/>
                </a:solidFill>
                <a:latin typeface="Calibri" pitchFamily="34" charset="0"/>
                <a:ea typeface="Calibri" pitchFamily="34" charset="-122"/>
                <a:cs typeface="Calibri" pitchFamily="34" charset="-120"/>
              </a:rPr>
              <a:t>Mapping: store = market (54), product family = SKU (33) giving 1,782 series; daily data rolled up to weeks</a:t>
            </a:r>
            <a:endParaRPr lang="en-US" sz="1400" dirty="0"/>
          </a:p>
          <a:p>
            <a:pPr marL="342900" indent="-342900">
              <a:spcAft>
                <a:spcPts val="600"/>
              </a:spcAft>
              <a:buSzPct val="100000"/>
              <a:buChar char="•"/>
            </a:pPr>
            <a:r>
              <a:rPr lang="en-US" sz="1400" dirty="0">
                <a:solidFill>
                  <a:srgbClr val="1B2A41"/>
                </a:solidFill>
                <a:latin typeface="Calibri" pitchFamily="34" charset="0"/>
                <a:ea typeface="Calibri" pitchFamily="34" charset="-122"/>
                <a:cs typeface="Calibri" pitchFamily="34" charset="-120"/>
              </a:rPr>
              <a:t>Not available: price, weather, media, true distribution. Proxies: promo item count, availability proxy, traffic, oil price</a:t>
            </a:r>
            <a:endParaRPr lang="en-US" sz="1400" dirty="0"/>
          </a:p>
          <a:p>
            <a:pPr marL="342900" indent="-342900">
              <a:spcAft>
                <a:spcPts val="600"/>
              </a:spcAft>
              <a:buSzPct val="100000"/>
              <a:buChar char="•"/>
            </a:pPr>
            <a:r>
              <a:rPr lang="en-US" sz="1400" dirty="0">
                <a:solidFill>
                  <a:srgbClr val="1B2A41"/>
                </a:solidFill>
                <a:latin typeface="Calibri" pitchFamily="34" charset="0"/>
                <a:ea typeface="Calibri" pitchFamily="34" charset="-122"/>
                <a:cs typeface="Calibri" pitchFamily="34" charset="-120"/>
              </a:rPr>
              <a:t>Consequence: the price and distribution questions in the brief are answered with proxies only</a:t>
            </a:r>
            <a:endParaRPr lang="en-US" sz="1400" dirty="0"/>
          </a:p>
        </p:txBody>
      </p:sp>
      <p:sp>
        <p:nvSpPr>
          <p:cNvPr id="5" name="mapping card"/>
          <p:cNvSpPr/>
          <p:nvPr/>
        </p:nvSpPr>
        <p:spPr>
          <a:xfrm>
            <a:off x="5212080" y="1097280"/>
            <a:ext cx="3520440" cy="3520440"/>
          </a:xfrm>
          <a:prstGeom prst="roundRect">
            <a:avLst>
              <a:gd name="adj" fmla="val 2078"/>
            </a:avLst>
          </a:prstGeom>
          <a:solidFill>
            <a:srgbClr val="F3F6F9"/>
          </a:solidFill>
          <a:ln w="9525">
            <a:solidFill>
              <a:srgbClr val="D5DDE5"/>
            </a:solidFill>
            <a:prstDash val="solid"/>
          </a:ln>
        </p:spPr>
      </p:sp>
      <p:sp>
        <p:nvSpPr>
          <p:cNvPr id="6" name="Text 3"/>
          <p:cNvSpPr txBox="1"/>
          <p:nvPr/>
        </p:nvSpPr>
        <p:spPr>
          <a:xfrm>
            <a:off x="5349240" y="1188720"/>
            <a:ext cx="3291840" cy="3291840"/>
          </a:xfrm>
          <a:prstGeom prst="rect">
            <a:avLst/>
          </a:prstGeom>
          <a:noFill/>
          <a:ln/>
        </p:spPr>
        <p:txBody>
          <a:bodyPr wrap="square" rtlCol="0" anchor="t"/>
          <a:lstStyle/>
          <a:p>
            <a:pPr indent="0" marL="0">
              <a:spcAft>
                <a:spcPts val="500"/>
              </a:spcAft>
              <a:buNone/>
            </a:pPr>
            <a:r>
              <a:rPr lang="en-US" sz="1300" b="1" dirty="0">
                <a:solidFill>
                  <a:srgbClr val="1F5F8B"/>
                </a:solidFill>
                <a:latin typeface="Calibri" pitchFamily="34" charset="0"/>
                <a:ea typeface="Calibri" pitchFamily="34" charset="-122"/>
                <a:cs typeface="Calibri" pitchFamily="34" charset="-120"/>
              </a:rPr>
              <a:t>Brief concept  -&gt;  used here</a:t>
            </a:r>
            <a:endParaRPr lang="en-US" sz="1300" dirty="0"/>
          </a:p>
          <a:p>
            <a:pPr indent="0" marL="0">
              <a:spcAft>
                <a:spcPts val="500"/>
              </a:spcAft>
              <a:buNone/>
            </a:pPr>
            <a:r>
              <a:rPr lang="en-US" sz="1300" dirty="0">
                <a:solidFill>
                  <a:srgbClr val="1B2A41"/>
                </a:solidFill>
                <a:latin typeface="Calibri" pitchFamily="34" charset="0"/>
                <a:ea typeface="Calibri" pitchFamily="34" charset="-122"/>
                <a:cs typeface="Calibri" pitchFamily="34" charset="-120"/>
              </a:rPr>
              <a:t>market_id  -&gt;  store_nbr</a:t>
            </a:r>
            <a:endParaRPr lang="en-US" sz="1300" dirty="0"/>
          </a:p>
          <a:p>
            <a:pPr indent="0" marL="0">
              <a:spcAft>
                <a:spcPts val="500"/>
              </a:spcAft>
              <a:buNone/>
            </a:pPr>
            <a:r>
              <a:rPr lang="en-US" sz="1300" dirty="0">
                <a:solidFill>
                  <a:srgbClr val="1B2A41"/>
                </a:solidFill>
                <a:latin typeface="Calibri" pitchFamily="34" charset="0"/>
                <a:ea typeface="Calibri" pitchFamily="34" charset="-122"/>
                <a:cs typeface="Calibri" pitchFamily="34" charset="-120"/>
              </a:rPr>
              <a:t>sku_id  -&gt;  product family</a:t>
            </a:r>
            <a:endParaRPr lang="en-US" sz="1300" dirty="0"/>
          </a:p>
          <a:p>
            <a:pPr indent="0" marL="0">
              <a:spcAft>
                <a:spcPts val="500"/>
              </a:spcAft>
              <a:buNone/>
            </a:pPr>
            <a:r>
              <a:rPr lang="en-US" sz="1300" dirty="0">
                <a:solidFill>
                  <a:srgbClr val="1B2A41"/>
                </a:solidFill>
                <a:latin typeface="Calibri" pitchFamily="34" charset="0"/>
                <a:ea typeface="Calibri" pitchFamily="34" charset="-122"/>
                <a:cs typeface="Calibri" pitchFamily="34" charset="-120"/>
              </a:rPr>
              <a:t>promotion  -&gt;  items on promo</a:t>
            </a:r>
            <a:endParaRPr lang="en-US" sz="1300" dirty="0"/>
          </a:p>
          <a:p>
            <a:pPr indent="0" marL="0">
              <a:spcAft>
                <a:spcPts val="500"/>
              </a:spcAft>
              <a:buNone/>
            </a:pPr>
            <a:r>
              <a:rPr lang="en-US" sz="1300" dirty="0">
                <a:solidFill>
                  <a:srgbClr val="C0392B"/>
                </a:solidFill>
                <a:latin typeface="Calibri" pitchFamily="34" charset="0"/>
                <a:ea typeface="Calibri" pitchFamily="34" charset="-122"/>
                <a:cs typeface="Calibri" pitchFamily="34" charset="-120"/>
              </a:rPr>
              <a:t>price  -&gt;  not available</a:t>
            </a:r>
            <a:endParaRPr lang="en-US" sz="1300" dirty="0"/>
          </a:p>
          <a:p>
            <a:pPr indent="0" marL="0">
              <a:spcAft>
                <a:spcPts val="500"/>
              </a:spcAft>
              <a:buNone/>
            </a:pPr>
            <a:r>
              <a:rPr lang="en-US" sz="1300" dirty="0">
                <a:solidFill>
                  <a:srgbClr val="1B2A41"/>
                </a:solidFill>
                <a:latin typeface="Calibri" pitchFamily="34" charset="0"/>
                <a:ea typeface="Calibri" pitchFamily="34" charset="-122"/>
                <a:cs typeface="Calibri" pitchFamily="34" charset="-120"/>
              </a:rPr>
              <a:t>distribution  -&gt;  availability proxy</a:t>
            </a:r>
            <a:endParaRPr lang="en-US" sz="1300" dirty="0"/>
          </a:p>
          <a:p>
            <a:pPr indent="0" marL="0">
              <a:spcAft>
                <a:spcPts val="500"/>
              </a:spcAft>
              <a:buNone/>
            </a:pPr>
            <a:r>
              <a:rPr lang="en-US" sz="1300" dirty="0">
                <a:solidFill>
                  <a:srgbClr val="1B2A41"/>
                </a:solidFill>
                <a:latin typeface="Calibri" pitchFamily="34" charset="0"/>
                <a:ea typeface="Calibri" pitchFamily="34" charset="-122"/>
                <a:cs typeface="Calibri" pitchFamily="34" charset="-120"/>
              </a:rPr>
              <a:t>weather  -&gt;  oil price (macro proxy)</a:t>
            </a:r>
            <a:endParaRPr lang="en-US" sz="1300" dirty="0"/>
          </a:p>
          <a:p>
            <a:pPr indent="0" marL="0">
              <a:spcAft>
                <a:spcPts val="500"/>
              </a:spcAft>
              <a:buNone/>
            </a:pPr>
            <a:r>
              <a:rPr lang="en-US" sz="1300" dirty="0">
                <a:solidFill>
                  <a:srgbClr val="C0392B"/>
                </a:solidFill>
                <a:latin typeface="Calibri" pitchFamily="34" charset="0"/>
                <a:ea typeface="Calibri" pitchFamily="34" charset="-122"/>
                <a:cs typeface="Calibri" pitchFamily="34" charset="-120"/>
              </a:rPr>
              <a:t>media  -&gt;  not available</a:t>
            </a:r>
            <a:endParaRPr lang="en-US" sz="1300" dirty="0"/>
          </a:p>
          <a:p>
            <a:pPr indent="0" marL="0">
              <a:spcAft>
                <a:spcPts val="500"/>
              </a:spcAft>
              <a:buNone/>
            </a:pPr>
            <a:r>
              <a:rPr lang="en-US" sz="1300" dirty="0">
                <a:solidFill>
                  <a:srgbClr val="1B2A41"/>
                </a:solidFill>
                <a:latin typeface="Calibri" pitchFamily="34" charset="0"/>
                <a:ea typeface="Calibri" pitchFamily="34" charset="-122"/>
                <a:cs typeface="Calibri" pitchFamily="34" charset="-120"/>
              </a:rPr>
              <a:t>calendar  -&gt;  holidays, events, paydays</a:t>
            </a:r>
            <a:endParaRPr lang="en-US" sz="1300" dirty="0"/>
          </a:p>
          <a:p>
            <a:pPr indent="0" marL="0">
              <a:spcAft>
                <a:spcPts val="500"/>
              </a:spcAft>
              <a:buNone/>
            </a:pPr>
            <a:r>
              <a:rPr lang="en-US" sz="1300" dirty="0">
                <a:solidFill>
                  <a:srgbClr val="1B2A41"/>
                </a:solidFill>
                <a:latin typeface="Calibri" pitchFamily="34" charset="0"/>
                <a:ea typeface="Calibri" pitchFamily="34" charset="-122"/>
                <a:cs typeface="Calibri" pitchFamily="34" charset="-120"/>
              </a:rPr>
              <a:t>extra  -&gt;  store transactions (lag-only)</a:t>
            </a:r>
            <a:endParaRPr lang="en-US" sz="13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Data quality: five findings that shape the model</a:t>
            </a:r>
            <a:endParaRPr lang="en-US" sz="2400" dirty="0"/>
          </a:p>
        </p:txBody>
      </p:sp>
      <p:sp>
        <p:nvSpPr>
          <p:cNvPr id="4" name="stat card 5%"/>
          <p:cNvSpPr/>
          <p:nvPr/>
        </p:nvSpPr>
        <p:spPr>
          <a:xfrm>
            <a:off x="411480" y="1051560"/>
            <a:ext cx="1554480" cy="1143000"/>
          </a:xfrm>
          <a:prstGeom prst="roundRect">
            <a:avLst>
              <a:gd name="adj" fmla="val 6400"/>
            </a:avLst>
          </a:prstGeom>
          <a:solidFill>
            <a:srgbClr val="F3F6F9"/>
          </a:solidFill>
          <a:ln w="9525">
            <a:solidFill>
              <a:srgbClr val="D5DDE5"/>
            </a:solidFill>
            <a:prstDash val="solid"/>
          </a:ln>
        </p:spPr>
      </p:sp>
      <p:sp>
        <p:nvSpPr>
          <p:cNvPr id="5" name="Text 2"/>
          <p:cNvSpPr txBox="1"/>
          <p:nvPr/>
        </p:nvSpPr>
        <p:spPr>
          <a:xfrm>
            <a:off x="411480" y="1124712"/>
            <a:ext cx="1554480" cy="566928"/>
          </a:xfrm>
          <a:prstGeom prst="rect">
            <a:avLst/>
          </a:prstGeom>
          <a:noFill/>
          <a:ln/>
        </p:spPr>
        <p:txBody>
          <a:bodyPr wrap="square" lIns="0" tIns="0" rIns="0" bIns="0" rtlCol="0" anchor="ctr"/>
          <a:lstStyle/>
          <a:p>
            <a:pPr algn="ctr" indent="0" marL="0">
              <a:buNone/>
            </a:pPr>
            <a:r>
              <a:rPr lang="en-US" sz="2800" b="1" dirty="0">
                <a:solidFill>
                  <a:srgbClr val="C0392B"/>
                </a:solidFill>
                <a:latin typeface="Calibri" pitchFamily="34" charset="0"/>
                <a:ea typeface="Calibri" pitchFamily="34" charset="-122"/>
                <a:cs typeface="Calibri" pitchFamily="34" charset="-120"/>
              </a:rPr>
              <a:t>5%</a:t>
            </a:r>
            <a:endParaRPr lang="en-US" sz="2800" dirty="0"/>
          </a:p>
        </p:txBody>
      </p:sp>
      <p:sp>
        <p:nvSpPr>
          <p:cNvPr id="6" name="Text 3"/>
          <p:cNvSpPr txBox="1"/>
          <p:nvPr/>
        </p:nvSpPr>
        <p:spPr>
          <a:xfrm>
            <a:off x="502920" y="1673352"/>
            <a:ext cx="137160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of series-weeks are reporting gaps (8+ zero weeks, then sales resume)</a:t>
            </a:r>
            <a:endParaRPr lang="en-US" sz="1100" dirty="0"/>
          </a:p>
        </p:txBody>
      </p:sp>
      <p:sp>
        <p:nvSpPr>
          <p:cNvPr id="7" name="stat card 786"/>
          <p:cNvSpPr/>
          <p:nvPr/>
        </p:nvSpPr>
        <p:spPr>
          <a:xfrm>
            <a:off x="2103120" y="1051560"/>
            <a:ext cx="1554480" cy="1143000"/>
          </a:xfrm>
          <a:prstGeom prst="roundRect">
            <a:avLst>
              <a:gd name="adj" fmla="val 6400"/>
            </a:avLst>
          </a:prstGeom>
          <a:solidFill>
            <a:srgbClr val="F3F6F9"/>
          </a:solidFill>
          <a:ln w="9525">
            <a:solidFill>
              <a:srgbClr val="D5DDE5"/>
            </a:solidFill>
            <a:prstDash val="solid"/>
          </a:ln>
        </p:spPr>
      </p:sp>
      <p:sp>
        <p:nvSpPr>
          <p:cNvPr id="8" name="Text 5"/>
          <p:cNvSpPr txBox="1"/>
          <p:nvPr/>
        </p:nvSpPr>
        <p:spPr>
          <a:xfrm>
            <a:off x="2103120" y="1124712"/>
            <a:ext cx="1554480" cy="566928"/>
          </a:xfrm>
          <a:prstGeom prst="rect">
            <a:avLst/>
          </a:prstGeom>
          <a:noFill/>
          <a:ln/>
        </p:spPr>
        <p:txBody>
          <a:bodyPr wrap="square" lIns="0" tIns="0" rIns="0" bIns="0" rtlCol="0" anchor="ctr"/>
          <a:lstStyle/>
          <a:p>
            <a:pPr algn="ctr" indent="0" marL="0">
              <a:buNone/>
            </a:pPr>
            <a:r>
              <a:rPr lang="en-US" sz="2800" b="1" dirty="0">
                <a:solidFill>
                  <a:srgbClr val="1F5F8B"/>
                </a:solidFill>
                <a:latin typeface="Calibri" pitchFamily="34" charset="0"/>
                <a:ea typeface="Calibri" pitchFamily="34" charset="-122"/>
                <a:cs typeface="Calibri" pitchFamily="34" charset="-120"/>
              </a:rPr>
              <a:t>786</a:t>
            </a:r>
            <a:endParaRPr lang="en-US" sz="2800" dirty="0"/>
          </a:p>
        </p:txBody>
      </p:sp>
      <p:sp>
        <p:nvSpPr>
          <p:cNvPr id="9" name="Text 6"/>
          <p:cNvSpPr txBox="1"/>
          <p:nvPr/>
        </p:nvSpPr>
        <p:spPr>
          <a:xfrm>
            <a:off x="2194560" y="1673352"/>
            <a:ext cx="137160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series launched after the first two months (new stores / families)</a:t>
            </a:r>
            <a:endParaRPr lang="en-US" sz="1100" dirty="0"/>
          </a:p>
        </p:txBody>
      </p:sp>
      <p:sp>
        <p:nvSpPr>
          <p:cNvPr id="10" name="stat card Mar 2014"/>
          <p:cNvSpPr/>
          <p:nvPr/>
        </p:nvSpPr>
        <p:spPr>
          <a:xfrm>
            <a:off x="3794760" y="1051560"/>
            <a:ext cx="1554480" cy="1143000"/>
          </a:xfrm>
          <a:prstGeom prst="roundRect">
            <a:avLst>
              <a:gd name="adj" fmla="val 6400"/>
            </a:avLst>
          </a:prstGeom>
          <a:solidFill>
            <a:srgbClr val="F3F6F9"/>
          </a:solidFill>
          <a:ln w="9525">
            <a:solidFill>
              <a:srgbClr val="D5DDE5"/>
            </a:solidFill>
            <a:prstDash val="solid"/>
          </a:ln>
        </p:spPr>
      </p:sp>
      <p:sp>
        <p:nvSpPr>
          <p:cNvPr id="11" name="Text 8"/>
          <p:cNvSpPr txBox="1"/>
          <p:nvPr/>
        </p:nvSpPr>
        <p:spPr>
          <a:xfrm>
            <a:off x="3794760" y="1124712"/>
            <a:ext cx="1554480" cy="566928"/>
          </a:xfrm>
          <a:prstGeom prst="rect">
            <a:avLst/>
          </a:prstGeom>
          <a:noFill/>
          <a:ln/>
        </p:spPr>
        <p:txBody>
          <a:bodyPr wrap="square" lIns="0" tIns="0" rIns="0" bIns="0" rtlCol="0" anchor="ctr"/>
          <a:lstStyle/>
          <a:p>
            <a:pPr algn="ctr" indent="0" marL="0">
              <a:buNone/>
            </a:pPr>
            <a:r>
              <a:rPr lang="en-US" sz="2800" b="1" dirty="0">
                <a:solidFill>
                  <a:srgbClr val="E07A1F"/>
                </a:solidFill>
                <a:latin typeface="Calibri" pitchFamily="34" charset="0"/>
                <a:ea typeface="Calibri" pitchFamily="34" charset="-122"/>
                <a:cs typeface="Calibri" pitchFamily="34" charset="-120"/>
              </a:rPr>
              <a:t>Mar 2014</a:t>
            </a:r>
            <a:endParaRPr lang="en-US" sz="2800" dirty="0"/>
          </a:p>
        </p:txBody>
      </p:sp>
      <p:sp>
        <p:nvSpPr>
          <p:cNvPr id="12" name="Text 9"/>
          <p:cNvSpPr txBox="1"/>
          <p:nvPr/>
        </p:nvSpPr>
        <p:spPr>
          <a:xfrm>
            <a:off x="3886200" y="1673352"/>
            <a:ext cx="137160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promo tracking starts - earlier values are missing, not zero</a:t>
            </a:r>
            <a:endParaRPr lang="en-US" sz="1100" dirty="0"/>
          </a:p>
        </p:txBody>
      </p:sp>
      <p:sp>
        <p:nvSpPr>
          <p:cNvPr id="13" name="stat card 54"/>
          <p:cNvSpPr/>
          <p:nvPr/>
        </p:nvSpPr>
        <p:spPr>
          <a:xfrm>
            <a:off x="5486400" y="1051560"/>
            <a:ext cx="1554480" cy="1143000"/>
          </a:xfrm>
          <a:prstGeom prst="roundRect">
            <a:avLst>
              <a:gd name="adj" fmla="val 6400"/>
            </a:avLst>
          </a:prstGeom>
          <a:solidFill>
            <a:srgbClr val="F3F6F9"/>
          </a:solidFill>
          <a:ln w="9525">
            <a:solidFill>
              <a:srgbClr val="D5DDE5"/>
            </a:solidFill>
            <a:prstDash val="solid"/>
          </a:ln>
        </p:spPr>
      </p:sp>
      <p:sp>
        <p:nvSpPr>
          <p:cNvPr id="14" name="Text 11"/>
          <p:cNvSpPr txBox="1"/>
          <p:nvPr/>
        </p:nvSpPr>
        <p:spPr>
          <a:xfrm>
            <a:off x="5486400" y="1124712"/>
            <a:ext cx="1554480" cy="566928"/>
          </a:xfrm>
          <a:prstGeom prst="rect">
            <a:avLst/>
          </a:prstGeom>
          <a:noFill/>
          <a:ln/>
        </p:spPr>
        <p:txBody>
          <a:bodyPr wrap="square" lIns="0" tIns="0" rIns="0" bIns="0" rtlCol="0" anchor="ctr"/>
          <a:lstStyle/>
          <a:p>
            <a:pPr algn="ctr" indent="0" marL="0">
              <a:buNone/>
            </a:pPr>
            <a:r>
              <a:rPr lang="en-US" sz="2800" b="1" dirty="0">
                <a:solidFill>
                  <a:srgbClr val="1F5F8B"/>
                </a:solidFill>
                <a:latin typeface="Calibri" pitchFamily="34" charset="0"/>
                <a:ea typeface="Calibri" pitchFamily="34" charset="-122"/>
                <a:cs typeface="Calibri" pitchFamily="34" charset="-120"/>
              </a:rPr>
              <a:t>54</a:t>
            </a:r>
            <a:endParaRPr lang="en-US" sz="2800" dirty="0"/>
          </a:p>
        </p:txBody>
      </p:sp>
      <p:sp>
        <p:nvSpPr>
          <p:cNvPr id="15" name="Text 12"/>
          <p:cNvSpPr txBox="1"/>
          <p:nvPr/>
        </p:nvSpPr>
        <p:spPr>
          <a:xfrm>
            <a:off x="5577840" y="1673352"/>
            <a:ext cx="137160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whole-week store closures, masked from training and scoring</a:t>
            </a:r>
            <a:endParaRPr lang="en-US" sz="1100" dirty="0"/>
          </a:p>
        </p:txBody>
      </p:sp>
      <p:sp>
        <p:nvSpPr>
          <p:cNvPr id="16" name="stat card 4"/>
          <p:cNvSpPr/>
          <p:nvPr/>
        </p:nvSpPr>
        <p:spPr>
          <a:xfrm>
            <a:off x="7178040" y="1051560"/>
            <a:ext cx="1554480" cy="1143000"/>
          </a:xfrm>
          <a:prstGeom prst="roundRect">
            <a:avLst>
              <a:gd name="adj" fmla="val 6400"/>
            </a:avLst>
          </a:prstGeom>
          <a:solidFill>
            <a:srgbClr val="F3F6F9"/>
          </a:solidFill>
          <a:ln w="9525">
            <a:solidFill>
              <a:srgbClr val="D5DDE5"/>
            </a:solidFill>
            <a:prstDash val="solid"/>
          </a:ln>
        </p:spPr>
      </p:sp>
      <p:sp>
        <p:nvSpPr>
          <p:cNvPr id="17" name="Text 14"/>
          <p:cNvSpPr txBox="1"/>
          <p:nvPr/>
        </p:nvSpPr>
        <p:spPr>
          <a:xfrm>
            <a:off x="7178040" y="1124712"/>
            <a:ext cx="1554480" cy="566928"/>
          </a:xfrm>
          <a:prstGeom prst="rect">
            <a:avLst/>
          </a:prstGeom>
          <a:noFill/>
          <a:ln/>
        </p:spPr>
        <p:txBody>
          <a:bodyPr wrap="square" lIns="0" tIns="0" rIns="0" bIns="0" rtlCol="0" anchor="ctr"/>
          <a:lstStyle/>
          <a:p>
            <a:pPr algn="ctr" indent="0" marL="0">
              <a:buNone/>
            </a:pPr>
            <a:r>
              <a:rPr lang="en-US" sz="2800" b="1" dirty="0">
                <a:solidFill>
                  <a:srgbClr val="1F5F8B"/>
                </a:solidFill>
                <a:latin typeface="Calibri" pitchFamily="34" charset="0"/>
                <a:ea typeface="Calibri" pitchFamily="34" charset="-122"/>
                <a:cs typeface="Calibri" pitchFamily="34" charset="-120"/>
              </a:rPr>
              <a:t>4</a:t>
            </a:r>
            <a:endParaRPr lang="en-US" sz="2800" dirty="0"/>
          </a:p>
        </p:txBody>
      </p:sp>
      <p:sp>
        <p:nvSpPr>
          <p:cNvPr id="18" name="Text 15"/>
          <p:cNvSpPr txBox="1"/>
          <p:nvPr/>
        </p:nvSpPr>
        <p:spPr>
          <a:xfrm>
            <a:off x="7269480" y="1673352"/>
            <a:ext cx="137160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missing 25-Dec days: stores close, weeks have 6 days</a:t>
            </a:r>
            <a:endParaRPr lang="en-US" sz="1100" dirty="0"/>
          </a:p>
        </p:txBody>
      </p:sp>
      <p:pic>
        <p:nvPicPr>
          <p:cNvPr id="19" name="total weekly sales" descr="total weekly sales">    </p:cNvPr>
          <p:cNvPicPr>
            <a:picLocks noChangeAspect="1"/>
          </p:cNvPicPr>
          <p:nvPr/>
        </p:nvPicPr>
        <p:blipFill>
          <a:blip r:embed="rId1"/>
          <a:stretch>
            <a:fillRect/>
          </a:stretch>
        </p:blipFill>
        <p:spPr>
          <a:xfrm>
            <a:off x="411480" y="2705184"/>
            <a:ext cx="4846320" cy="1721953"/>
          </a:xfrm>
          <a:prstGeom prst="rect">
            <a:avLst/>
          </a:prstGeom>
        </p:spPr>
      </p:pic>
      <p:sp>
        <p:nvSpPr>
          <p:cNvPr id="20" name="Text 16"/>
          <p:cNvSpPr txBox="1"/>
          <p:nvPr/>
        </p:nvSpPr>
        <p:spPr>
          <a:xfrm>
            <a:off x="5394960" y="2468880"/>
            <a:ext cx="3383280" cy="2194560"/>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Pre-launch zeros are treated as missing, not demand</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Delisted series (8+ trailing zero weeks) forecast zero, unless seasonal</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Anomalies are kept in the targets when the calendar explains them</a:t>
            </a:r>
            <a:endParaRPr lang="en-US" sz="12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Method: one global model, direct 13-week horizon</a:t>
            </a:r>
            <a:endParaRPr lang="en-US" sz="2400" dirty="0"/>
          </a:p>
        </p:txBody>
      </p:sp>
      <p:sp>
        <p:nvSpPr>
          <p:cNvPr id="4" name="step Weekly panel"/>
          <p:cNvSpPr/>
          <p:nvPr/>
        </p:nvSpPr>
        <p:spPr>
          <a:xfrm>
            <a:off x="411480" y="1280160"/>
            <a:ext cx="1554480" cy="1554480"/>
          </a:xfrm>
          <a:prstGeom prst="roundRect">
            <a:avLst>
              <a:gd name="adj" fmla="val 4706"/>
            </a:avLst>
          </a:prstGeom>
          <a:solidFill>
            <a:srgbClr val="F3F6F9"/>
          </a:solidFill>
          <a:ln w="12700">
            <a:solidFill>
              <a:srgbClr val="1F5F8B"/>
            </a:solidFill>
            <a:prstDash val="solid"/>
          </a:ln>
        </p:spPr>
      </p:sp>
      <p:sp>
        <p:nvSpPr>
          <p:cNvPr id="5" name="Text 2"/>
          <p:cNvSpPr txBox="1"/>
          <p:nvPr/>
        </p:nvSpPr>
        <p:spPr>
          <a:xfrm>
            <a:off x="457200" y="1371600"/>
            <a:ext cx="1463040" cy="54864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Weekly panel</a:t>
            </a:r>
            <a:endParaRPr lang="en-US" sz="1300" dirty="0"/>
          </a:p>
        </p:txBody>
      </p:sp>
      <p:sp>
        <p:nvSpPr>
          <p:cNvPr id="6" name="Text 3"/>
          <p:cNvSpPr txBox="1"/>
          <p:nvPr/>
        </p:nvSpPr>
        <p:spPr>
          <a:xfrm>
            <a:off x="484632" y="1920240"/>
            <a:ext cx="1408176" cy="868680"/>
          </a:xfrm>
          <a:prstGeom prst="rect">
            <a:avLst/>
          </a:prstGeom>
          <a:noFill/>
          <a:ln/>
        </p:spPr>
        <p:txBody>
          <a:bodyPr wrap="square" lIns="0" tIns="0" rIns="0" bIns="0" rtlCol="0" anchor="t"/>
          <a:lstStyle/>
          <a:p>
            <a:pPr algn="ctr" indent="0" marL="0">
              <a:buNone/>
            </a:pPr>
            <a:r>
              <a:rPr lang="en-US" sz="1050" dirty="0">
                <a:solidFill>
                  <a:srgbClr val="5B6B7B"/>
                </a:solidFill>
                <a:latin typeface="Calibri" pitchFamily="34" charset="0"/>
                <a:ea typeface="Calibri" pitchFamily="34" charset="-122"/>
                <a:cs typeface="Calibri" pitchFamily="34" charset="-120"/>
              </a:rPr>
              <a:t>240 weeks, masks for launch, closure, gaps</a:t>
            </a:r>
            <a:endParaRPr lang="en-US" sz="1050" dirty="0"/>
          </a:p>
        </p:txBody>
      </p:sp>
      <p:sp>
        <p:nvSpPr>
          <p:cNvPr id="7" name="Text 4"/>
          <p:cNvSpPr txBox="1"/>
          <p:nvPr/>
        </p:nvSpPr>
        <p:spPr>
          <a:xfrm>
            <a:off x="1947672" y="1828800"/>
            <a:ext cx="164592" cy="365760"/>
          </a:xfrm>
          <a:prstGeom prst="rect">
            <a:avLst/>
          </a:prstGeom>
          <a:noFill/>
          <a:ln/>
        </p:spPr>
        <p:txBody>
          <a:bodyPr wrap="square" lIns="0" tIns="0" rIns="0" bIns="0" rtlCol="0" anchor="ctr"/>
          <a:lstStyle/>
          <a:p>
            <a:pPr algn="ctr" indent="0" marL="0">
              <a:buNone/>
            </a:pPr>
            <a:r>
              <a:rPr lang="en-US" sz="1600" b="1" dirty="0">
                <a:solidFill>
                  <a:srgbClr val="E07A1F"/>
                </a:solidFill>
              </a:rPr>
              <a:t>&gt;</a:t>
            </a:r>
            <a:endParaRPr lang="en-US" sz="1600" dirty="0"/>
          </a:p>
        </p:txBody>
      </p:sp>
      <p:sp>
        <p:nvSpPr>
          <p:cNvPr id="8" name="step Leakage-safe features"/>
          <p:cNvSpPr/>
          <p:nvPr/>
        </p:nvSpPr>
        <p:spPr>
          <a:xfrm>
            <a:off x="2093976" y="1280160"/>
            <a:ext cx="1554480" cy="1554480"/>
          </a:xfrm>
          <a:prstGeom prst="roundRect">
            <a:avLst>
              <a:gd name="adj" fmla="val 4706"/>
            </a:avLst>
          </a:prstGeom>
          <a:solidFill>
            <a:srgbClr val="F3F6F9"/>
          </a:solidFill>
          <a:ln w="12700">
            <a:solidFill>
              <a:srgbClr val="1F5F8B"/>
            </a:solidFill>
            <a:prstDash val="solid"/>
          </a:ln>
        </p:spPr>
      </p:sp>
      <p:sp>
        <p:nvSpPr>
          <p:cNvPr id="9" name="Text 6"/>
          <p:cNvSpPr txBox="1"/>
          <p:nvPr/>
        </p:nvSpPr>
        <p:spPr>
          <a:xfrm>
            <a:off x="2139696" y="1371600"/>
            <a:ext cx="1463040" cy="54864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Leakage-safe features</a:t>
            </a:r>
            <a:endParaRPr lang="en-US" sz="1300" dirty="0"/>
          </a:p>
        </p:txBody>
      </p:sp>
      <p:sp>
        <p:nvSpPr>
          <p:cNvPr id="10" name="Text 7"/>
          <p:cNvSpPr txBox="1"/>
          <p:nvPr/>
        </p:nvSpPr>
        <p:spPr>
          <a:xfrm>
            <a:off x="2167128" y="1920240"/>
            <a:ext cx="1408176" cy="868680"/>
          </a:xfrm>
          <a:prstGeom prst="rect">
            <a:avLst/>
          </a:prstGeom>
          <a:noFill/>
          <a:ln/>
        </p:spPr>
        <p:txBody>
          <a:bodyPr wrap="square" lIns="0" tIns="0" rIns="0" bIns="0" rtlCol="0" anchor="t"/>
          <a:lstStyle/>
          <a:p>
            <a:pPr algn="ctr" indent="0" marL="0">
              <a:buNone/>
            </a:pPr>
            <a:r>
              <a:rPr lang="en-US" sz="1050" dirty="0">
                <a:solidFill>
                  <a:srgbClr val="5B6B7B"/>
                </a:solidFill>
                <a:latin typeface="Calibri" pitchFamily="34" charset="0"/>
                <a:ea typeface="Calibri" pitchFamily="34" charset="-122"/>
                <a:cs typeface="Calibri" pitchFamily="34" charset="-120"/>
              </a:rPr>
              <a:t>lags, seasonality, promo plan, calendar, traffic</a:t>
            </a:r>
            <a:endParaRPr lang="en-US" sz="1050" dirty="0"/>
          </a:p>
        </p:txBody>
      </p:sp>
      <p:sp>
        <p:nvSpPr>
          <p:cNvPr id="11" name="Text 8"/>
          <p:cNvSpPr txBox="1"/>
          <p:nvPr/>
        </p:nvSpPr>
        <p:spPr>
          <a:xfrm>
            <a:off x="3630168" y="1828800"/>
            <a:ext cx="164592" cy="365760"/>
          </a:xfrm>
          <a:prstGeom prst="rect">
            <a:avLst/>
          </a:prstGeom>
          <a:noFill/>
          <a:ln/>
        </p:spPr>
        <p:txBody>
          <a:bodyPr wrap="square" lIns="0" tIns="0" rIns="0" bIns="0" rtlCol="0" anchor="ctr"/>
          <a:lstStyle/>
          <a:p>
            <a:pPr algn="ctr" indent="0" marL="0">
              <a:buNone/>
            </a:pPr>
            <a:r>
              <a:rPr lang="en-US" sz="1600" b="1" dirty="0">
                <a:solidFill>
                  <a:srgbClr val="E07A1F"/>
                </a:solidFill>
              </a:rPr>
              <a:t>&gt;</a:t>
            </a:r>
            <a:endParaRPr lang="en-US" sz="1600" dirty="0"/>
          </a:p>
        </p:txBody>
      </p:sp>
      <p:sp>
        <p:nvSpPr>
          <p:cNvPr id="12" name="step Global GBM"/>
          <p:cNvSpPr/>
          <p:nvPr/>
        </p:nvSpPr>
        <p:spPr>
          <a:xfrm>
            <a:off x="3776472" y="1280160"/>
            <a:ext cx="1554480" cy="1554480"/>
          </a:xfrm>
          <a:prstGeom prst="roundRect">
            <a:avLst>
              <a:gd name="adj" fmla="val 4706"/>
            </a:avLst>
          </a:prstGeom>
          <a:solidFill>
            <a:srgbClr val="1F5F8B"/>
          </a:solidFill>
          <a:ln w="12700">
            <a:solidFill>
              <a:srgbClr val="1F5F8B"/>
            </a:solidFill>
            <a:prstDash val="solid"/>
          </a:ln>
        </p:spPr>
      </p:sp>
      <p:sp>
        <p:nvSpPr>
          <p:cNvPr id="13" name="Text 10"/>
          <p:cNvSpPr txBox="1"/>
          <p:nvPr/>
        </p:nvSpPr>
        <p:spPr>
          <a:xfrm>
            <a:off x="3822192" y="1371600"/>
            <a:ext cx="14630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Global GBM</a:t>
            </a:r>
            <a:endParaRPr lang="en-US" sz="1300" dirty="0"/>
          </a:p>
        </p:txBody>
      </p:sp>
      <p:sp>
        <p:nvSpPr>
          <p:cNvPr id="14" name="Text 11"/>
          <p:cNvSpPr txBox="1"/>
          <p:nvPr/>
        </p:nvSpPr>
        <p:spPr>
          <a:xfrm>
            <a:off x="3849624" y="1920240"/>
            <a:ext cx="1408176" cy="868680"/>
          </a:xfrm>
          <a:prstGeom prst="rect">
            <a:avLst/>
          </a:prstGeom>
          <a:noFill/>
          <a:ln/>
        </p:spPr>
        <p:txBody>
          <a:bodyPr wrap="square" lIns="0" tIns="0" rIns="0" bIns="0" rtlCol="0" anchor="t"/>
          <a:lstStyle/>
          <a:p>
            <a:pPr algn="ctr" indent="0" marL="0">
              <a:buNone/>
            </a:pPr>
            <a:r>
              <a:rPr lang="en-US" sz="1050" dirty="0">
                <a:solidFill>
                  <a:srgbClr val="FFFFFF"/>
                </a:solidFill>
                <a:latin typeface="Calibri" pitchFamily="34" charset="0"/>
                <a:ea typeface="Calibri" pitchFamily="34" charset="-122"/>
                <a:cs typeface="Calibri" pitchFamily="34" charset="-120"/>
              </a:rPr>
              <a:t>log deviation from run-rate, horizon 1..13</a:t>
            </a:r>
            <a:endParaRPr lang="en-US" sz="1050" dirty="0"/>
          </a:p>
        </p:txBody>
      </p:sp>
      <p:sp>
        <p:nvSpPr>
          <p:cNvPr id="15" name="Text 12"/>
          <p:cNvSpPr txBox="1"/>
          <p:nvPr/>
        </p:nvSpPr>
        <p:spPr>
          <a:xfrm>
            <a:off x="5312664" y="1828800"/>
            <a:ext cx="164592" cy="365760"/>
          </a:xfrm>
          <a:prstGeom prst="rect">
            <a:avLst/>
          </a:prstGeom>
          <a:noFill/>
          <a:ln/>
        </p:spPr>
        <p:txBody>
          <a:bodyPr wrap="square" lIns="0" tIns="0" rIns="0" bIns="0" rtlCol="0" anchor="ctr"/>
          <a:lstStyle/>
          <a:p>
            <a:pPr algn="ctr" indent="0" marL="0">
              <a:buNone/>
            </a:pPr>
            <a:r>
              <a:rPr lang="en-US" sz="1600" b="1" dirty="0">
                <a:solidFill>
                  <a:srgbClr val="E07A1F"/>
                </a:solidFill>
              </a:rPr>
              <a:t>&gt;</a:t>
            </a:r>
            <a:endParaRPr lang="en-US" sz="1600" dirty="0"/>
          </a:p>
        </p:txBody>
      </p:sp>
      <p:sp>
        <p:nvSpPr>
          <p:cNvPr id="16" name="step Hybrid + rules"/>
          <p:cNvSpPr/>
          <p:nvPr/>
        </p:nvSpPr>
        <p:spPr>
          <a:xfrm>
            <a:off x="5458968" y="1280160"/>
            <a:ext cx="1554480" cy="1554480"/>
          </a:xfrm>
          <a:prstGeom prst="roundRect">
            <a:avLst>
              <a:gd name="adj" fmla="val 4706"/>
            </a:avLst>
          </a:prstGeom>
          <a:solidFill>
            <a:srgbClr val="F3F6F9"/>
          </a:solidFill>
          <a:ln w="12700">
            <a:solidFill>
              <a:srgbClr val="1F5F8B"/>
            </a:solidFill>
            <a:prstDash val="solid"/>
          </a:ln>
        </p:spPr>
      </p:sp>
      <p:sp>
        <p:nvSpPr>
          <p:cNvPr id="17" name="Text 14"/>
          <p:cNvSpPr txBox="1"/>
          <p:nvPr/>
        </p:nvSpPr>
        <p:spPr>
          <a:xfrm>
            <a:off x="5504688" y="1371600"/>
            <a:ext cx="1463040" cy="54864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Hybrid + rules</a:t>
            </a:r>
            <a:endParaRPr lang="en-US" sz="1300" dirty="0"/>
          </a:p>
        </p:txBody>
      </p:sp>
      <p:sp>
        <p:nvSpPr>
          <p:cNvPr id="18" name="Text 15"/>
          <p:cNvSpPr txBox="1"/>
          <p:nvPr/>
        </p:nvSpPr>
        <p:spPr>
          <a:xfrm>
            <a:off x="5532120" y="1920240"/>
            <a:ext cx="1408176" cy="868680"/>
          </a:xfrm>
          <a:prstGeom prst="rect">
            <a:avLst/>
          </a:prstGeom>
          <a:noFill/>
          <a:ln/>
        </p:spPr>
        <p:txBody>
          <a:bodyPr wrap="square" lIns="0" tIns="0" rIns="0" bIns="0" rtlCol="0" anchor="t"/>
          <a:lstStyle/>
          <a:p>
            <a:pPr algn="ctr" indent="0" marL="0">
              <a:buNone/>
            </a:pPr>
            <a:r>
              <a:rPr lang="en-US" sz="1050" dirty="0">
                <a:solidFill>
                  <a:srgbClr val="5B6B7B"/>
                </a:solidFill>
                <a:latin typeface="Calibri" pitchFamily="34" charset="0"/>
                <a:ea typeface="Calibri" pitchFamily="34" charset="-122"/>
                <a:cs typeface="Calibri" pitchFamily="34" charset="-120"/>
              </a:rPr>
              <a:t>0.9 GBM + 0.1 seasonal naive; cold-start; delist rule</a:t>
            </a:r>
            <a:endParaRPr lang="en-US" sz="1050" dirty="0"/>
          </a:p>
        </p:txBody>
      </p:sp>
      <p:sp>
        <p:nvSpPr>
          <p:cNvPr id="19" name="Text 16"/>
          <p:cNvSpPr txBox="1"/>
          <p:nvPr/>
        </p:nvSpPr>
        <p:spPr>
          <a:xfrm>
            <a:off x="6995160" y="1828800"/>
            <a:ext cx="164592" cy="365760"/>
          </a:xfrm>
          <a:prstGeom prst="rect">
            <a:avLst/>
          </a:prstGeom>
          <a:noFill/>
          <a:ln/>
        </p:spPr>
        <p:txBody>
          <a:bodyPr wrap="square" lIns="0" tIns="0" rIns="0" bIns="0" rtlCol="0" anchor="ctr"/>
          <a:lstStyle/>
          <a:p>
            <a:pPr algn="ctr" indent="0" marL="0">
              <a:buNone/>
            </a:pPr>
            <a:r>
              <a:rPr lang="en-US" sz="1600" b="1" dirty="0">
                <a:solidFill>
                  <a:srgbClr val="E07A1F"/>
                </a:solidFill>
              </a:rPr>
              <a:t>&gt;</a:t>
            </a:r>
            <a:endParaRPr lang="en-US" sz="1600" dirty="0"/>
          </a:p>
        </p:txBody>
      </p:sp>
      <p:sp>
        <p:nvSpPr>
          <p:cNvPr id="20" name="step Intervals"/>
          <p:cNvSpPr/>
          <p:nvPr/>
        </p:nvSpPr>
        <p:spPr>
          <a:xfrm>
            <a:off x="7141464" y="1280160"/>
            <a:ext cx="1554480" cy="1554480"/>
          </a:xfrm>
          <a:prstGeom prst="roundRect">
            <a:avLst>
              <a:gd name="adj" fmla="val 4706"/>
            </a:avLst>
          </a:prstGeom>
          <a:solidFill>
            <a:srgbClr val="F3F6F9"/>
          </a:solidFill>
          <a:ln w="12700">
            <a:solidFill>
              <a:srgbClr val="1F5F8B"/>
            </a:solidFill>
            <a:prstDash val="solid"/>
          </a:ln>
        </p:spPr>
      </p:sp>
      <p:sp>
        <p:nvSpPr>
          <p:cNvPr id="21" name="Text 18"/>
          <p:cNvSpPr txBox="1"/>
          <p:nvPr/>
        </p:nvSpPr>
        <p:spPr>
          <a:xfrm>
            <a:off x="7187184" y="1371600"/>
            <a:ext cx="1463040" cy="548640"/>
          </a:xfrm>
          <a:prstGeom prst="rect">
            <a:avLst/>
          </a:prstGeom>
          <a:noFill/>
          <a:ln/>
        </p:spPr>
        <p:txBody>
          <a:bodyPr wrap="square" lIns="0" tIns="0" rIns="0" bIns="0" rtlCol="0" anchor="ctr"/>
          <a:lstStyle/>
          <a:p>
            <a:pPr algn="ctr" indent="0" marL="0">
              <a:buNone/>
            </a:pPr>
            <a:r>
              <a:rPr lang="en-US" sz="1300" b="1" dirty="0">
                <a:solidFill>
                  <a:srgbClr val="1B2A41"/>
                </a:solidFill>
                <a:latin typeface="Calibri" pitchFamily="34" charset="0"/>
                <a:ea typeface="Calibri" pitchFamily="34" charset="-122"/>
                <a:cs typeface="Calibri" pitchFamily="34" charset="-120"/>
              </a:rPr>
              <a:t>Intervals</a:t>
            </a:r>
            <a:endParaRPr lang="en-US" sz="1300" dirty="0"/>
          </a:p>
        </p:txBody>
      </p:sp>
      <p:sp>
        <p:nvSpPr>
          <p:cNvPr id="22" name="Text 19"/>
          <p:cNvSpPr txBox="1"/>
          <p:nvPr/>
        </p:nvSpPr>
        <p:spPr>
          <a:xfrm>
            <a:off x="7214616" y="1920240"/>
            <a:ext cx="1408176" cy="868680"/>
          </a:xfrm>
          <a:prstGeom prst="rect">
            <a:avLst/>
          </a:prstGeom>
          <a:noFill/>
          <a:ln/>
        </p:spPr>
        <p:txBody>
          <a:bodyPr wrap="square" lIns="0" tIns="0" rIns="0" bIns="0" rtlCol="0" anchor="t"/>
          <a:lstStyle/>
          <a:p>
            <a:pPr algn="ctr" indent="0" marL="0">
              <a:buNone/>
            </a:pPr>
            <a:r>
              <a:rPr lang="en-US" sz="1050" dirty="0">
                <a:solidFill>
                  <a:srgbClr val="5B6B7B"/>
                </a:solidFill>
                <a:latin typeface="Calibri" pitchFamily="34" charset="0"/>
                <a:ea typeface="Calibri" pitchFamily="34" charset="-122"/>
                <a:cs typeface="Calibri" pitchFamily="34" charset="-120"/>
              </a:rPr>
              <a:t>conformal, by horizon x volume tier</a:t>
            </a:r>
            <a:endParaRPr lang="en-US" sz="1050" dirty="0"/>
          </a:p>
        </p:txBody>
      </p:sp>
      <p:sp>
        <p:nvSpPr>
          <p:cNvPr id="23" name="Text 20"/>
          <p:cNvSpPr txBox="1"/>
          <p:nvPr/>
        </p:nvSpPr>
        <p:spPr>
          <a:xfrm>
            <a:off x="411480" y="3063240"/>
            <a:ext cx="8321040" cy="164592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Future inputs: calendar is known; the promo plan is known for 2.6 weeks (test file) then assumed = last 28 days; traffic and oil are lag-only, so no future assumption is needed</a:t>
            </a:r>
            <a:endParaRPr lang="en-US" sz="1300" dirty="0"/>
          </a:p>
          <a:p>
            <a:pPr marL="342900" indent="-3429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Baselines for comparison: naive 4-week mean, seasonal naive x growth, damped-trend Holt</a:t>
            </a:r>
            <a:endParaRPr lang="en-US" sz="1300" dirty="0"/>
          </a:p>
          <a:p>
            <a:pPr marL="342900" indent="-3429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Cold start: series with under 13 weeks of history use the best-validated fallback (damped Holt)</a:t>
            </a:r>
            <a:endParaRPr lang="en-US" sz="13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Validation: four rolling origins, no random splits</a:t>
            </a:r>
            <a:endParaRPr lang="en-US" sz="2400" dirty="0"/>
          </a:p>
        </p:txBody>
      </p:sp>
      <p:sp>
        <p:nvSpPr>
          <p:cNvPr id="4" name="Text 1"/>
          <p:cNvSpPr txBox="1"/>
          <p:nvPr/>
        </p:nvSpPr>
        <p:spPr>
          <a:xfrm>
            <a:off x="411480" y="1234440"/>
            <a:ext cx="731520" cy="365760"/>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Fold 1</a:t>
            </a:r>
            <a:endParaRPr lang="en-US" sz="1200" dirty="0"/>
          </a:p>
        </p:txBody>
      </p:sp>
      <p:sp>
        <p:nvSpPr>
          <p:cNvPr id="5" name="train fold 1"/>
          <p:cNvSpPr/>
          <p:nvPr/>
        </p:nvSpPr>
        <p:spPr>
          <a:xfrm>
            <a:off x="1188720" y="1234440"/>
            <a:ext cx="5873496" cy="365760"/>
          </a:xfrm>
          <a:prstGeom prst="rect">
            <a:avLst/>
          </a:prstGeom>
          <a:solidFill>
            <a:srgbClr val="1F5F8B"/>
          </a:solidFill>
          <a:ln w="6350">
            <a:solidFill>
              <a:srgbClr val="FFFFFF"/>
            </a:solidFill>
            <a:prstDash val="solid"/>
          </a:ln>
        </p:spPr>
      </p:sp>
      <p:sp>
        <p:nvSpPr>
          <p:cNvPr id="6" name="test fold 1"/>
          <p:cNvSpPr/>
          <p:nvPr/>
        </p:nvSpPr>
        <p:spPr>
          <a:xfrm>
            <a:off x="7062216" y="1234440"/>
            <a:ext cx="406146" cy="365760"/>
          </a:xfrm>
          <a:prstGeom prst="rect">
            <a:avLst/>
          </a:prstGeom>
          <a:solidFill>
            <a:srgbClr val="E07A1F"/>
          </a:solidFill>
          <a:ln w="6350">
            <a:solidFill>
              <a:srgbClr val="FFFFFF"/>
            </a:solidFill>
            <a:prstDash val="solid"/>
          </a:ln>
        </p:spPr>
      </p:sp>
      <p:sp>
        <p:nvSpPr>
          <p:cNvPr id="7" name="Text 4"/>
          <p:cNvSpPr txBox="1"/>
          <p:nvPr/>
        </p:nvSpPr>
        <p:spPr>
          <a:xfrm>
            <a:off x="411480" y="1801368"/>
            <a:ext cx="731520" cy="365760"/>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Fold 2</a:t>
            </a:r>
            <a:endParaRPr lang="en-US" sz="1200" dirty="0"/>
          </a:p>
        </p:txBody>
      </p:sp>
      <p:sp>
        <p:nvSpPr>
          <p:cNvPr id="8" name="train fold 2"/>
          <p:cNvSpPr/>
          <p:nvPr/>
        </p:nvSpPr>
        <p:spPr>
          <a:xfrm>
            <a:off x="1188720" y="1801368"/>
            <a:ext cx="6279642" cy="365760"/>
          </a:xfrm>
          <a:prstGeom prst="rect">
            <a:avLst/>
          </a:prstGeom>
          <a:solidFill>
            <a:srgbClr val="1F5F8B"/>
          </a:solidFill>
          <a:ln w="6350">
            <a:solidFill>
              <a:srgbClr val="FFFFFF"/>
            </a:solidFill>
            <a:prstDash val="solid"/>
          </a:ln>
        </p:spPr>
      </p:sp>
      <p:sp>
        <p:nvSpPr>
          <p:cNvPr id="9" name="test fold 2"/>
          <p:cNvSpPr/>
          <p:nvPr/>
        </p:nvSpPr>
        <p:spPr>
          <a:xfrm>
            <a:off x="7468362" y="1801368"/>
            <a:ext cx="406146" cy="365760"/>
          </a:xfrm>
          <a:prstGeom prst="rect">
            <a:avLst/>
          </a:prstGeom>
          <a:solidFill>
            <a:srgbClr val="E07A1F"/>
          </a:solidFill>
          <a:ln w="6350">
            <a:solidFill>
              <a:srgbClr val="FFFFFF"/>
            </a:solidFill>
            <a:prstDash val="solid"/>
          </a:ln>
        </p:spPr>
      </p:sp>
      <p:sp>
        <p:nvSpPr>
          <p:cNvPr id="10" name="Text 7"/>
          <p:cNvSpPr txBox="1"/>
          <p:nvPr/>
        </p:nvSpPr>
        <p:spPr>
          <a:xfrm>
            <a:off x="411480" y="2368296"/>
            <a:ext cx="731520" cy="365760"/>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Fold 3</a:t>
            </a:r>
            <a:endParaRPr lang="en-US" sz="1200" dirty="0"/>
          </a:p>
        </p:txBody>
      </p:sp>
      <p:sp>
        <p:nvSpPr>
          <p:cNvPr id="11" name="train fold 3"/>
          <p:cNvSpPr/>
          <p:nvPr/>
        </p:nvSpPr>
        <p:spPr>
          <a:xfrm>
            <a:off x="1188720" y="2368296"/>
            <a:ext cx="6685788" cy="365760"/>
          </a:xfrm>
          <a:prstGeom prst="rect">
            <a:avLst/>
          </a:prstGeom>
          <a:solidFill>
            <a:srgbClr val="1F5F8B"/>
          </a:solidFill>
          <a:ln w="6350">
            <a:solidFill>
              <a:srgbClr val="FFFFFF"/>
            </a:solidFill>
            <a:prstDash val="solid"/>
          </a:ln>
        </p:spPr>
      </p:sp>
      <p:sp>
        <p:nvSpPr>
          <p:cNvPr id="12" name="test fold 3"/>
          <p:cNvSpPr/>
          <p:nvPr/>
        </p:nvSpPr>
        <p:spPr>
          <a:xfrm>
            <a:off x="7874508" y="2368296"/>
            <a:ext cx="406146" cy="365760"/>
          </a:xfrm>
          <a:prstGeom prst="rect">
            <a:avLst/>
          </a:prstGeom>
          <a:solidFill>
            <a:srgbClr val="E07A1F"/>
          </a:solidFill>
          <a:ln w="6350">
            <a:solidFill>
              <a:srgbClr val="FFFFFF"/>
            </a:solidFill>
            <a:prstDash val="solid"/>
          </a:ln>
        </p:spPr>
      </p:sp>
      <p:sp>
        <p:nvSpPr>
          <p:cNvPr id="13" name="Text 10"/>
          <p:cNvSpPr txBox="1"/>
          <p:nvPr/>
        </p:nvSpPr>
        <p:spPr>
          <a:xfrm>
            <a:off x="411480" y="2935224"/>
            <a:ext cx="731520" cy="365760"/>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Fold 4</a:t>
            </a:r>
            <a:endParaRPr lang="en-US" sz="1200" dirty="0"/>
          </a:p>
        </p:txBody>
      </p:sp>
      <p:sp>
        <p:nvSpPr>
          <p:cNvPr id="14" name="train fold 4"/>
          <p:cNvSpPr/>
          <p:nvPr/>
        </p:nvSpPr>
        <p:spPr>
          <a:xfrm>
            <a:off x="1188720" y="2935224"/>
            <a:ext cx="7091934" cy="365760"/>
          </a:xfrm>
          <a:prstGeom prst="rect">
            <a:avLst/>
          </a:prstGeom>
          <a:solidFill>
            <a:srgbClr val="1F5F8B"/>
          </a:solidFill>
          <a:ln w="6350">
            <a:solidFill>
              <a:srgbClr val="FFFFFF"/>
            </a:solidFill>
            <a:prstDash val="solid"/>
          </a:ln>
        </p:spPr>
      </p:sp>
      <p:sp>
        <p:nvSpPr>
          <p:cNvPr id="15" name="test fold 4"/>
          <p:cNvSpPr/>
          <p:nvPr/>
        </p:nvSpPr>
        <p:spPr>
          <a:xfrm>
            <a:off x="8280654" y="2935224"/>
            <a:ext cx="406146" cy="365760"/>
          </a:xfrm>
          <a:prstGeom prst="rect">
            <a:avLst/>
          </a:prstGeom>
          <a:solidFill>
            <a:srgbClr val="E07A1F"/>
          </a:solidFill>
          <a:ln w="6350">
            <a:solidFill>
              <a:srgbClr val="FFFFFF"/>
            </a:solidFill>
            <a:prstDash val="solid"/>
          </a:ln>
        </p:spPr>
      </p:sp>
      <p:sp>
        <p:nvSpPr>
          <p:cNvPr id="16" name="Text 13"/>
          <p:cNvSpPr txBox="1"/>
          <p:nvPr/>
        </p:nvSpPr>
        <p:spPr>
          <a:xfrm>
            <a:off x="1005840" y="3520440"/>
            <a:ext cx="822960" cy="274320"/>
          </a:xfrm>
          <a:prstGeom prst="rect">
            <a:avLst/>
          </a:prstGeom>
          <a:noFill/>
          <a:ln/>
        </p:spPr>
        <p:txBody>
          <a:bodyPr wrap="square" lIns="0" tIns="0" rIns="0" bIns="0" rtlCol="0" anchor="ctr"/>
          <a:lstStyle/>
          <a:p>
            <a:pPr indent="0" marL="0">
              <a:buNone/>
            </a:pPr>
            <a:r>
              <a:rPr lang="en-US" sz="1000" dirty="0">
                <a:solidFill>
                  <a:srgbClr val="5B6B7B"/>
                </a:solidFill>
              </a:rPr>
              <a:t>2013-01</a:t>
            </a:r>
            <a:endParaRPr lang="en-US" sz="1000" dirty="0"/>
          </a:p>
        </p:txBody>
      </p:sp>
      <p:sp>
        <p:nvSpPr>
          <p:cNvPr id="17" name="Text 14"/>
          <p:cNvSpPr txBox="1"/>
          <p:nvPr/>
        </p:nvSpPr>
        <p:spPr>
          <a:xfrm>
            <a:off x="6675120" y="3520440"/>
            <a:ext cx="2011680" cy="274320"/>
          </a:xfrm>
          <a:prstGeom prst="rect">
            <a:avLst/>
          </a:prstGeom>
          <a:noFill/>
          <a:ln/>
        </p:spPr>
        <p:txBody>
          <a:bodyPr wrap="square" lIns="0" tIns="0" rIns="0" bIns="0" rtlCol="0" anchor="ctr"/>
          <a:lstStyle/>
          <a:p>
            <a:pPr algn="r" indent="0" marL="0">
              <a:buNone/>
            </a:pPr>
            <a:r>
              <a:rPr lang="en-US" sz="1000" dirty="0">
                <a:solidFill>
                  <a:srgbClr val="5B6B7B"/>
                </a:solidFill>
              </a:rPr>
              <a:t>2017-08 (last observed week)</a:t>
            </a:r>
            <a:endParaRPr lang="en-US" sz="1000" dirty="0"/>
          </a:p>
        </p:txBody>
      </p:sp>
      <p:sp>
        <p:nvSpPr>
          <p:cNvPr id="18" name="legend train"/>
          <p:cNvSpPr/>
          <p:nvPr/>
        </p:nvSpPr>
        <p:spPr>
          <a:xfrm>
            <a:off x="411480" y="3931920"/>
            <a:ext cx="228600" cy="182880"/>
          </a:xfrm>
          <a:prstGeom prst="rect">
            <a:avLst/>
          </a:prstGeom>
          <a:solidFill>
            <a:srgbClr val="1F5F8B"/>
          </a:solidFill>
          <a:ln w="6350">
            <a:solidFill>
              <a:srgbClr val="1F5F8B"/>
            </a:solidFill>
            <a:prstDash val="solid"/>
          </a:ln>
        </p:spPr>
      </p:sp>
      <p:sp>
        <p:nvSpPr>
          <p:cNvPr id="19" name="Text 16"/>
          <p:cNvSpPr txBox="1"/>
          <p:nvPr/>
        </p:nvSpPr>
        <p:spPr>
          <a:xfrm>
            <a:off x="685800" y="3886200"/>
            <a:ext cx="3108960" cy="274320"/>
          </a:xfrm>
          <a:prstGeom prst="rect">
            <a:avLst/>
          </a:prstGeom>
          <a:noFill/>
          <a:ln/>
        </p:spPr>
        <p:txBody>
          <a:bodyPr wrap="square" lIns="0" tIns="0" rIns="0" bIns="0" rtlCol="0" anchor="ctr"/>
          <a:lstStyle/>
          <a:p>
            <a:pPr indent="0" marL="0">
              <a:buNone/>
            </a:pPr>
            <a:r>
              <a:rPr lang="en-US" sz="1100" dirty="0">
                <a:solidFill>
                  <a:srgbClr val="1B2A41"/>
                </a:solidFill>
              </a:rPr>
              <a:t>training rows (targets up to the origin only)</a:t>
            </a:r>
            <a:endParaRPr lang="en-US" sz="1100" dirty="0"/>
          </a:p>
        </p:txBody>
      </p:sp>
      <p:sp>
        <p:nvSpPr>
          <p:cNvPr id="20" name="legend test"/>
          <p:cNvSpPr/>
          <p:nvPr/>
        </p:nvSpPr>
        <p:spPr>
          <a:xfrm>
            <a:off x="3931920" y="3931920"/>
            <a:ext cx="228600" cy="182880"/>
          </a:xfrm>
          <a:prstGeom prst="rect">
            <a:avLst/>
          </a:prstGeom>
          <a:solidFill>
            <a:srgbClr val="E07A1F"/>
          </a:solidFill>
          <a:ln w="6350">
            <a:solidFill>
              <a:srgbClr val="E07A1F"/>
            </a:solidFill>
            <a:prstDash val="solid"/>
          </a:ln>
        </p:spPr>
      </p:sp>
      <p:sp>
        <p:nvSpPr>
          <p:cNvPr id="21" name="Text 18"/>
          <p:cNvSpPr txBox="1"/>
          <p:nvPr/>
        </p:nvSpPr>
        <p:spPr>
          <a:xfrm>
            <a:off x="4206240" y="3886200"/>
            <a:ext cx="4572000" cy="274320"/>
          </a:xfrm>
          <a:prstGeom prst="rect">
            <a:avLst/>
          </a:prstGeom>
          <a:noFill/>
          <a:ln/>
        </p:spPr>
        <p:txBody>
          <a:bodyPr wrap="square" lIns="0" tIns="0" rIns="0" bIns="0" rtlCol="0" anchor="ctr"/>
          <a:lstStyle/>
          <a:p>
            <a:pPr indent="0" marL="0">
              <a:buNone/>
            </a:pPr>
            <a:r>
              <a:rPr lang="en-US" sz="1100" dirty="0">
                <a:solidFill>
                  <a:srgbClr val="1B2A41"/>
                </a:solidFill>
              </a:rPr>
              <a:t>13-week test window (Aug-Nov 2016, Nov-Feb, Feb-May, May-Aug 2017)</a:t>
            </a:r>
            <a:endParaRPr lang="en-US" sz="1100" dirty="0"/>
          </a:p>
        </p:txBody>
      </p:sp>
      <p:sp>
        <p:nvSpPr>
          <p:cNvPr id="22" name="Text 19"/>
          <p:cNvSpPr txBox="1"/>
          <p:nvPr/>
        </p:nvSpPr>
        <p:spPr>
          <a:xfrm>
            <a:off x="411480" y="4343400"/>
            <a:ext cx="8321040" cy="320040"/>
          </a:xfrm>
          <a:prstGeom prst="rect">
            <a:avLst/>
          </a:prstGeom>
          <a:noFill/>
          <a:ln/>
        </p:spPr>
        <p:txBody>
          <a:bodyPr wrap="square" lIns="0" tIns="0" rIns="0" bIns="0" rtlCol="0" anchor="ctr"/>
          <a:lstStyle/>
          <a:p>
            <a:pPr indent="0" marL="0">
              <a:buNone/>
            </a:pPr>
            <a:r>
              <a:rPr lang="en-US" sz="1100" i="1" dirty="0">
                <a:solidFill>
                  <a:srgbClr val="5B6B7B"/>
                </a:solidFill>
              </a:rPr>
              <a:t>Scoring excludes whole-week closures and reporting gaps (2% of series-weeks); a sensitivity table includes them.</a:t>
            </a:r>
            <a:endParaRPr lang="en-US" sz="11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Accuracy: the global model beats every baseline</a:t>
            </a:r>
            <a:endParaRPr lang="en-US" sz="2400" dirty="0"/>
          </a:p>
        </p:txBody>
      </p:sp>
      <p:pic>
        <p:nvPicPr>
          <p:cNvPr id="4" name="model comparison" descr="model comparison">    </p:cNvPr>
          <p:cNvPicPr>
            <a:picLocks noChangeAspect="1"/>
          </p:cNvPicPr>
          <p:nvPr/>
        </p:nvPicPr>
        <p:blipFill>
          <a:blip r:embed="rId1"/>
          <a:stretch>
            <a:fillRect/>
          </a:stretch>
        </p:blipFill>
        <p:spPr>
          <a:xfrm>
            <a:off x="411480" y="1426144"/>
            <a:ext cx="5577840" cy="1902591"/>
          </a:xfrm>
          <a:prstGeom prst="rect">
            <a:avLst/>
          </a:prstGeom>
        </p:spPr>
      </p:pic>
      <p:sp>
        <p:nvSpPr>
          <p:cNvPr id="5" name="stat card -16%"/>
          <p:cNvSpPr/>
          <p:nvPr/>
        </p:nvSpPr>
        <p:spPr>
          <a:xfrm>
            <a:off x="6172200" y="1051560"/>
            <a:ext cx="1234440" cy="1143000"/>
          </a:xfrm>
          <a:prstGeom prst="roundRect">
            <a:avLst>
              <a:gd name="adj" fmla="val 6400"/>
            </a:avLst>
          </a:prstGeom>
          <a:solidFill>
            <a:srgbClr val="F3F6F9"/>
          </a:solidFill>
          <a:ln w="9525">
            <a:solidFill>
              <a:srgbClr val="D5DDE5"/>
            </a:solidFill>
            <a:prstDash val="solid"/>
          </a:ln>
        </p:spPr>
      </p:sp>
      <p:sp>
        <p:nvSpPr>
          <p:cNvPr id="6" name="Text 2"/>
          <p:cNvSpPr txBox="1"/>
          <p:nvPr/>
        </p:nvSpPr>
        <p:spPr>
          <a:xfrm>
            <a:off x="6172200" y="1124712"/>
            <a:ext cx="1234440" cy="566928"/>
          </a:xfrm>
          <a:prstGeom prst="rect">
            <a:avLst/>
          </a:prstGeom>
          <a:noFill/>
          <a:ln/>
        </p:spPr>
        <p:txBody>
          <a:bodyPr wrap="square" lIns="0" tIns="0" rIns="0" bIns="0" rtlCol="0" anchor="ctr"/>
          <a:lstStyle/>
          <a:p>
            <a:pPr algn="ctr" indent="0" marL="0">
              <a:buNone/>
            </a:pPr>
            <a:r>
              <a:rPr lang="en-US" sz="2800" b="1" dirty="0">
                <a:solidFill>
                  <a:srgbClr val="3A9D5D"/>
                </a:solidFill>
                <a:latin typeface="Calibri" pitchFamily="34" charset="0"/>
                <a:ea typeface="Calibri" pitchFamily="34" charset="-122"/>
                <a:cs typeface="Calibri" pitchFamily="34" charset="-120"/>
              </a:rPr>
              <a:t>-16%</a:t>
            </a:r>
            <a:endParaRPr lang="en-US" sz="2800" dirty="0"/>
          </a:p>
        </p:txBody>
      </p:sp>
      <p:sp>
        <p:nvSpPr>
          <p:cNvPr id="7" name="Text 3"/>
          <p:cNvSpPr txBox="1"/>
          <p:nvPr/>
        </p:nvSpPr>
        <p:spPr>
          <a:xfrm>
            <a:off x="6263640" y="1673352"/>
            <a:ext cx="105156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WMAPE vs naive (11.4% to 9.6%)</a:t>
            </a:r>
            <a:endParaRPr lang="en-US" sz="1100" dirty="0"/>
          </a:p>
        </p:txBody>
      </p:sp>
      <p:sp>
        <p:nvSpPr>
          <p:cNvPr id="8" name="stat card 0.40"/>
          <p:cNvSpPr/>
          <p:nvPr/>
        </p:nvSpPr>
        <p:spPr>
          <a:xfrm>
            <a:off x="7498080" y="1051560"/>
            <a:ext cx="1234440" cy="1143000"/>
          </a:xfrm>
          <a:prstGeom prst="roundRect">
            <a:avLst>
              <a:gd name="adj" fmla="val 6400"/>
            </a:avLst>
          </a:prstGeom>
          <a:solidFill>
            <a:srgbClr val="F3F6F9"/>
          </a:solidFill>
          <a:ln w="9525">
            <a:solidFill>
              <a:srgbClr val="D5DDE5"/>
            </a:solidFill>
            <a:prstDash val="solid"/>
          </a:ln>
        </p:spPr>
      </p:sp>
      <p:sp>
        <p:nvSpPr>
          <p:cNvPr id="9" name="Text 5"/>
          <p:cNvSpPr txBox="1"/>
          <p:nvPr/>
        </p:nvSpPr>
        <p:spPr>
          <a:xfrm>
            <a:off x="7498080" y="1124712"/>
            <a:ext cx="1234440" cy="566928"/>
          </a:xfrm>
          <a:prstGeom prst="rect">
            <a:avLst/>
          </a:prstGeom>
          <a:noFill/>
          <a:ln/>
        </p:spPr>
        <p:txBody>
          <a:bodyPr wrap="square" lIns="0" tIns="0" rIns="0" bIns="0" rtlCol="0" anchor="ctr"/>
          <a:lstStyle/>
          <a:p>
            <a:pPr algn="ctr" indent="0" marL="0">
              <a:buNone/>
            </a:pPr>
            <a:r>
              <a:rPr lang="en-US" sz="2800" b="1" dirty="0">
                <a:solidFill>
                  <a:srgbClr val="3A9D5D"/>
                </a:solidFill>
                <a:latin typeface="Calibri" pitchFamily="34" charset="0"/>
                <a:ea typeface="Calibri" pitchFamily="34" charset="-122"/>
                <a:cs typeface="Calibri" pitchFamily="34" charset="-120"/>
              </a:rPr>
              <a:t>0.40</a:t>
            </a:r>
            <a:endParaRPr lang="en-US" sz="2800" dirty="0"/>
          </a:p>
        </p:txBody>
      </p:sp>
      <p:sp>
        <p:nvSpPr>
          <p:cNvPr id="10" name="Text 6"/>
          <p:cNvSpPr txBox="1"/>
          <p:nvPr/>
        </p:nvSpPr>
        <p:spPr>
          <a:xfrm>
            <a:off x="7589520" y="1673352"/>
            <a:ext cx="105156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RMSLE vs 0.51 for naive</a:t>
            </a:r>
            <a:endParaRPr lang="en-US" sz="1100" dirty="0"/>
          </a:p>
        </p:txBody>
      </p:sp>
      <p:sp>
        <p:nvSpPr>
          <p:cNvPr id="11" name="Text 7"/>
          <p:cNvSpPr txBox="1"/>
          <p:nvPr/>
        </p:nvSpPr>
        <p:spPr>
          <a:xfrm>
            <a:off x="411480" y="3794760"/>
            <a:ext cx="8321040" cy="1005840"/>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32 of 33 families and 53 of 54 stores beat naive</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Median per-series WMAPE 18% vs 21% for naive</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Ensemble 0.9 GBM + 0.1 seasonal naive; weight chosen on folds 1-3 only</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Fold 3 is close (10.1% vs 10.4%): gains are not uniform</a:t>
            </a:r>
            <a:endParaRPr lang="en-US" sz="1200" dirty="0"/>
          </a:p>
        </p:txBody>
      </p:sp>
      <p:sp>
        <p:nvSpPr>
          <p:cNvPr id="12" name="Text 8"/>
          <p:cNvSpPr txBox="1"/>
          <p:nvPr/>
        </p:nvSpPr>
        <p:spPr>
          <a:xfrm>
            <a:off x="6172200" y="2331720"/>
            <a:ext cx="2560320" cy="1280160"/>
          </a:xfrm>
          <a:prstGeom prst="rect">
            <a:avLst/>
          </a:prstGeom>
          <a:noFill/>
          <a:ln/>
        </p:spPr>
        <p:txBody>
          <a:bodyPr wrap="square" lIns="0" tIns="0" rIns="0" bIns="0" rtlCol="0" anchor="t"/>
          <a:lstStyle/>
          <a:p>
            <a:pPr indent="0" marL="0">
              <a:buNone/>
            </a:pPr>
            <a:r>
              <a:rPr lang="en-US" sz="1100" dirty="0">
                <a:solidFill>
                  <a:srgbClr val="5B6B7B"/>
                </a:solidFill>
              </a:rPr>
              <a:t>Bias is -2.8% (mild under-forecast); small-volume series stay hard (bottom-quartile WMAPE about 49%).</a:t>
            </a:r>
            <a:endParaRPr lang="en-US" sz="11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Accuracy by forecast horizon</a:t>
            </a:r>
            <a:endParaRPr lang="en-US" sz="2400" dirty="0"/>
          </a:p>
        </p:txBody>
      </p:sp>
      <p:pic>
        <p:nvPicPr>
          <p:cNvPr id="4" name="error by horizon" descr="error by horizon">    </p:cNvPr>
          <p:cNvPicPr>
            <a:picLocks noChangeAspect="1"/>
          </p:cNvPicPr>
          <p:nvPr/>
        </p:nvPicPr>
        <p:blipFill>
          <a:blip r:embed="rId1"/>
          <a:stretch>
            <a:fillRect/>
          </a:stretch>
        </p:blipFill>
        <p:spPr>
          <a:xfrm>
            <a:off x="411480" y="1794510"/>
            <a:ext cx="5760720" cy="1988820"/>
          </a:xfrm>
          <a:prstGeom prst="rect">
            <a:avLst/>
          </a:prstGeom>
        </p:spPr>
      </p:pic>
      <p:sp>
        <p:nvSpPr>
          <p:cNvPr id="5" name="stat card 7.0% to 13.8%"/>
          <p:cNvSpPr/>
          <p:nvPr/>
        </p:nvSpPr>
        <p:spPr>
          <a:xfrm>
            <a:off x="6355080" y="1097280"/>
            <a:ext cx="2377440" cy="1143000"/>
          </a:xfrm>
          <a:prstGeom prst="roundRect">
            <a:avLst>
              <a:gd name="adj" fmla="val 6400"/>
            </a:avLst>
          </a:prstGeom>
          <a:solidFill>
            <a:srgbClr val="F3F6F9"/>
          </a:solidFill>
          <a:ln w="9525">
            <a:solidFill>
              <a:srgbClr val="D5DDE5"/>
            </a:solidFill>
            <a:prstDash val="solid"/>
          </a:ln>
        </p:spPr>
      </p:sp>
      <p:sp>
        <p:nvSpPr>
          <p:cNvPr id="6" name="Text 2"/>
          <p:cNvSpPr txBox="1"/>
          <p:nvPr/>
        </p:nvSpPr>
        <p:spPr>
          <a:xfrm>
            <a:off x="6355080" y="1170432"/>
            <a:ext cx="2377440" cy="566928"/>
          </a:xfrm>
          <a:prstGeom prst="rect">
            <a:avLst/>
          </a:prstGeom>
          <a:noFill/>
          <a:ln/>
        </p:spPr>
        <p:txBody>
          <a:bodyPr wrap="square" lIns="0" tIns="0" rIns="0" bIns="0" rtlCol="0" anchor="ctr"/>
          <a:lstStyle/>
          <a:p>
            <a:pPr algn="ctr" indent="0" marL="0">
              <a:buNone/>
            </a:pPr>
            <a:r>
              <a:rPr lang="en-US" sz="2800" b="1" dirty="0">
                <a:solidFill>
                  <a:srgbClr val="1F5F8B"/>
                </a:solidFill>
                <a:latin typeface="Calibri" pitchFamily="34" charset="0"/>
                <a:ea typeface="Calibri" pitchFamily="34" charset="-122"/>
                <a:cs typeface="Calibri" pitchFamily="34" charset="-120"/>
              </a:rPr>
              <a:t>7.0% to 13.8%</a:t>
            </a:r>
            <a:endParaRPr lang="en-US" sz="2800" dirty="0"/>
          </a:p>
        </p:txBody>
      </p:sp>
      <p:sp>
        <p:nvSpPr>
          <p:cNvPr id="7" name="Text 3"/>
          <p:cNvSpPr txBox="1"/>
          <p:nvPr/>
        </p:nvSpPr>
        <p:spPr>
          <a:xfrm>
            <a:off x="6446520" y="1719072"/>
            <a:ext cx="219456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ensemble WMAPE, week 1 to week 13</a:t>
            </a:r>
            <a:endParaRPr lang="en-US" sz="1100" dirty="0"/>
          </a:p>
        </p:txBody>
      </p:sp>
      <p:sp>
        <p:nvSpPr>
          <p:cNvPr id="8" name="Text 4"/>
          <p:cNvSpPr txBox="1"/>
          <p:nvPr/>
        </p:nvSpPr>
        <p:spPr>
          <a:xfrm>
            <a:off x="6355080" y="2377440"/>
            <a:ext cx="2377440" cy="2286000"/>
          </a:xfrm>
          <a:prstGeom prst="rect">
            <a:avLst/>
          </a:prstGeom>
          <a:noFill/>
          <a:ln/>
        </p:spPr>
        <p:txBody>
          <a:bodyPr wrap="square" lIns="635" tIns="635" rIns="635" bIns="635" rtlCol="0" anchor="t"/>
          <a:lstStyle/>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Equal to naive in week 1, better at most later weeks</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Biggest gains vs naive at weeks 3, 5, 6 and 7 (3-4.5 points)</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Weeks 10-11: ensemble is slightly WORSE than naive (10.1% vs 9.3%, 10.0% vs 9.6%)</a:t>
            </a:r>
            <a:endParaRPr lang="en-US" sz="115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Accuracy by segment: broad, not just in the big lines</a:t>
            </a:r>
            <a:endParaRPr lang="en-US" sz="2400" dirty="0"/>
          </a:p>
        </p:txBody>
      </p:sp>
      <p:pic>
        <p:nvPicPr>
          <p:cNvPr id="4" name="segments" descr="segments">    </p:cNvPr>
          <p:cNvPicPr>
            <a:picLocks noChangeAspect="1"/>
          </p:cNvPicPr>
          <p:nvPr/>
        </p:nvPicPr>
        <p:blipFill>
          <a:blip r:embed="rId1"/>
          <a:stretch>
            <a:fillRect/>
          </a:stretch>
        </p:blipFill>
        <p:spPr>
          <a:xfrm>
            <a:off x="411480" y="1466311"/>
            <a:ext cx="6035040" cy="2279458"/>
          </a:xfrm>
          <a:prstGeom prst="rect">
            <a:avLst/>
          </a:prstGeom>
        </p:spPr>
      </p:pic>
      <p:sp>
        <p:nvSpPr>
          <p:cNvPr id="5" name="Text 1"/>
          <p:cNvSpPr txBox="1"/>
          <p:nvPr/>
        </p:nvSpPr>
        <p:spPr>
          <a:xfrm>
            <a:off x="6583680" y="1097280"/>
            <a:ext cx="2194560" cy="3566160"/>
          </a:xfrm>
          <a:prstGeom prst="rect">
            <a:avLst/>
          </a:prstGeom>
          <a:noFill/>
          <a:ln/>
        </p:spPr>
        <p:txBody>
          <a:bodyPr wrap="square" lIns="635" tIns="635" rIns="635" bIns="635" rtlCol="0" anchor="t"/>
          <a:lstStyle/>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32 of 33 families beat naive; 53 of 54 stores</a:t>
            </a:r>
            <a:endParaRPr lang="en-US" sz="1100" dirty="0"/>
          </a:p>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Store types A-E improve 11-17% relative</a:t>
            </a:r>
            <a:endParaRPr lang="en-US" sz="1100" dirty="0"/>
          </a:p>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Bottom volume quartile: WMAPE about 49%, barely better than naive (50%)</a:t>
            </a:r>
            <a:endParaRPr lang="en-US" sz="1100" dirty="0"/>
          </a:p>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Cold-start series (&lt;13 weeks): damped Holt 6.6% WMAPE vs GBM 15.7% (881 rows only)</a:t>
            </a:r>
            <a:endParaRPr lang="en-US" sz="11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Aggregates are more accurate: coherent bottom-up totals</a:t>
            </a:r>
            <a:endParaRPr lang="en-US" sz="2400" dirty="0"/>
          </a:p>
        </p:txBody>
      </p:sp>
      <p:pic>
        <p:nvPicPr>
          <p:cNvPr id="4" name="aggregate backtest" descr="aggregate backtest">    </p:cNvPr>
          <p:cNvPicPr>
            <a:picLocks noChangeAspect="1"/>
          </p:cNvPicPr>
          <p:nvPr/>
        </p:nvPicPr>
        <p:blipFill>
          <a:blip r:embed="rId1"/>
          <a:stretch>
            <a:fillRect/>
          </a:stretch>
        </p:blipFill>
        <p:spPr>
          <a:xfrm>
            <a:off x="411480" y="1494190"/>
            <a:ext cx="5486400" cy="1949380"/>
          </a:xfrm>
          <a:prstGeom prst="rect">
            <a:avLst/>
          </a:prstGeom>
        </p:spPr>
      </p:pic>
      <p:sp>
        <p:nvSpPr>
          <p:cNvPr id="5" name="stat card 5.2%"/>
          <p:cNvSpPr/>
          <p:nvPr/>
        </p:nvSpPr>
        <p:spPr>
          <a:xfrm>
            <a:off x="6172200" y="1097280"/>
            <a:ext cx="2560320" cy="1143000"/>
          </a:xfrm>
          <a:prstGeom prst="roundRect">
            <a:avLst>
              <a:gd name="adj" fmla="val 6400"/>
            </a:avLst>
          </a:prstGeom>
          <a:solidFill>
            <a:srgbClr val="F3F6F9"/>
          </a:solidFill>
          <a:ln w="9525">
            <a:solidFill>
              <a:srgbClr val="D5DDE5"/>
            </a:solidFill>
            <a:prstDash val="solid"/>
          </a:ln>
        </p:spPr>
      </p:sp>
      <p:sp>
        <p:nvSpPr>
          <p:cNvPr id="6" name="Text 2"/>
          <p:cNvSpPr txBox="1"/>
          <p:nvPr/>
        </p:nvSpPr>
        <p:spPr>
          <a:xfrm>
            <a:off x="6172200" y="1170432"/>
            <a:ext cx="2560320" cy="566928"/>
          </a:xfrm>
          <a:prstGeom prst="rect">
            <a:avLst/>
          </a:prstGeom>
          <a:noFill/>
          <a:ln/>
        </p:spPr>
        <p:txBody>
          <a:bodyPr wrap="square" lIns="0" tIns="0" rIns="0" bIns="0" rtlCol="0" anchor="ctr"/>
          <a:lstStyle/>
          <a:p>
            <a:pPr algn="ctr" indent="0" marL="0">
              <a:buNone/>
            </a:pPr>
            <a:r>
              <a:rPr lang="en-US" sz="2800" b="1" dirty="0">
                <a:solidFill>
                  <a:srgbClr val="3A9D5D"/>
                </a:solidFill>
                <a:latin typeface="Calibri" pitchFamily="34" charset="0"/>
                <a:ea typeface="Calibri" pitchFamily="34" charset="-122"/>
                <a:cs typeface="Calibri" pitchFamily="34" charset="-120"/>
              </a:rPr>
              <a:t>5.2%</a:t>
            </a:r>
            <a:endParaRPr lang="en-US" sz="2800" dirty="0"/>
          </a:p>
        </p:txBody>
      </p:sp>
      <p:sp>
        <p:nvSpPr>
          <p:cNvPr id="7" name="Text 3"/>
          <p:cNvSpPr txBox="1"/>
          <p:nvPr/>
        </p:nvSpPr>
        <p:spPr>
          <a:xfrm>
            <a:off x="6263640" y="1719072"/>
            <a:ext cx="237744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WMAPE on total weekly units (naive 6.8%)</a:t>
            </a:r>
            <a:endParaRPr lang="en-US" sz="1100" dirty="0"/>
          </a:p>
        </p:txBody>
      </p:sp>
      <p:sp>
        <p:nvSpPr>
          <p:cNvPr id="8" name="stat card 6.3% / 7.4%"/>
          <p:cNvSpPr/>
          <p:nvPr/>
        </p:nvSpPr>
        <p:spPr>
          <a:xfrm>
            <a:off x="6172200" y="2377440"/>
            <a:ext cx="2560320" cy="1143000"/>
          </a:xfrm>
          <a:prstGeom prst="roundRect">
            <a:avLst>
              <a:gd name="adj" fmla="val 6400"/>
            </a:avLst>
          </a:prstGeom>
          <a:solidFill>
            <a:srgbClr val="F3F6F9"/>
          </a:solidFill>
          <a:ln w="9525">
            <a:solidFill>
              <a:srgbClr val="D5DDE5"/>
            </a:solidFill>
            <a:prstDash val="solid"/>
          </a:ln>
        </p:spPr>
      </p:sp>
      <p:sp>
        <p:nvSpPr>
          <p:cNvPr id="9" name="Text 5"/>
          <p:cNvSpPr txBox="1"/>
          <p:nvPr/>
        </p:nvSpPr>
        <p:spPr>
          <a:xfrm>
            <a:off x="6172200" y="2450592"/>
            <a:ext cx="2560320" cy="566928"/>
          </a:xfrm>
          <a:prstGeom prst="rect">
            <a:avLst/>
          </a:prstGeom>
          <a:noFill/>
          <a:ln/>
        </p:spPr>
        <p:txBody>
          <a:bodyPr wrap="square" lIns="0" tIns="0" rIns="0" bIns="0" rtlCol="0" anchor="ctr"/>
          <a:lstStyle/>
          <a:p>
            <a:pPr algn="ctr" indent="0" marL="0">
              <a:buNone/>
            </a:pPr>
            <a:r>
              <a:rPr lang="en-US" sz="2800" b="1" dirty="0">
                <a:solidFill>
                  <a:srgbClr val="3A9D5D"/>
                </a:solidFill>
                <a:latin typeface="Calibri" pitchFamily="34" charset="0"/>
                <a:ea typeface="Calibri" pitchFamily="34" charset="-122"/>
                <a:cs typeface="Calibri" pitchFamily="34" charset="-120"/>
              </a:rPr>
              <a:t>6.3% / 7.4%</a:t>
            </a:r>
            <a:endParaRPr lang="en-US" sz="2800" dirty="0"/>
          </a:p>
        </p:txBody>
      </p:sp>
      <p:sp>
        <p:nvSpPr>
          <p:cNvPr id="10" name="Text 6"/>
          <p:cNvSpPr txBox="1"/>
          <p:nvPr/>
        </p:nvSpPr>
        <p:spPr>
          <a:xfrm>
            <a:off x="6263640" y="2999232"/>
            <a:ext cx="237744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family-week / store-week WMAPE (naive 8.0% / 9.1%)</a:t>
            </a:r>
            <a:endParaRPr lang="en-US" sz="1100" dirty="0"/>
          </a:p>
        </p:txBody>
      </p:sp>
      <p:sp>
        <p:nvSpPr>
          <p:cNvPr id="11" name="Text 7"/>
          <p:cNvSpPr txBox="1"/>
          <p:nvPr/>
        </p:nvSpPr>
        <p:spPr>
          <a:xfrm>
            <a:off x="411480" y="4114800"/>
            <a:ext cx="8321040" cy="365760"/>
          </a:xfrm>
          <a:prstGeom prst="rect">
            <a:avLst/>
          </a:prstGeom>
          <a:noFill/>
          <a:ln/>
        </p:spPr>
        <p:txBody>
          <a:bodyPr wrap="square" lIns="0" tIns="0" rIns="0" bIns="0" rtlCol="0" anchor="ctr"/>
          <a:lstStyle/>
          <a:p>
            <a:pPr indent="0" marL="0">
              <a:buNone/>
            </a:pPr>
            <a:r>
              <a:rPr lang="en-US" sz="1200" dirty="0">
                <a:solidFill>
                  <a:srgbClr val="5B6B7B"/>
                </a:solidFill>
              </a:rPr>
              <a:t>Dotted lines mark the four fold origins. Forecasts are out-of-sample throughout.</a:t>
            </a:r>
            <a:endParaRPr lang="en-US" sz="12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Uncertainty: conformal intervals that hold up out-of-sample</a:t>
            </a:r>
            <a:endParaRPr lang="en-US" sz="2400" dirty="0"/>
          </a:p>
        </p:txBody>
      </p:sp>
      <p:pic>
        <p:nvPicPr>
          <p:cNvPr id="4" name="interval calibration" descr="interval calibration">    </p:cNvPr>
          <p:cNvPicPr>
            <a:picLocks noChangeAspect="1"/>
          </p:cNvPicPr>
          <p:nvPr/>
        </p:nvPicPr>
        <p:blipFill>
          <a:blip r:embed="rId1"/>
          <a:stretch>
            <a:fillRect/>
          </a:stretch>
        </p:blipFill>
        <p:spPr>
          <a:xfrm>
            <a:off x="411480" y="1363980"/>
            <a:ext cx="4754880" cy="2575560"/>
          </a:xfrm>
          <a:prstGeom prst="rect">
            <a:avLst/>
          </a:prstGeom>
        </p:spPr>
      </p:pic>
      <p:sp>
        <p:nvSpPr>
          <p:cNvPr id="5" name="stat card 91.4%"/>
          <p:cNvSpPr/>
          <p:nvPr/>
        </p:nvSpPr>
        <p:spPr>
          <a:xfrm>
            <a:off x="5486400" y="1097280"/>
            <a:ext cx="1554480" cy="1143000"/>
          </a:xfrm>
          <a:prstGeom prst="roundRect">
            <a:avLst>
              <a:gd name="adj" fmla="val 6400"/>
            </a:avLst>
          </a:prstGeom>
          <a:solidFill>
            <a:srgbClr val="F3F6F9"/>
          </a:solidFill>
          <a:ln w="9525">
            <a:solidFill>
              <a:srgbClr val="D5DDE5"/>
            </a:solidFill>
            <a:prstDash val="solid"/>
          </a:ln>
        </p:spPr>
      </p:sp>
      <p:sp>
        <p:nvSpPr>
          <p:cNvPr id="6" name="Text 2"/>
          <p:cNvSpPr txBox="1"/>
          <p:nvPr/>
        </p:nvSpPr>
        <p:spPr>
          <a:xfrm>
            <a:off x="5486400" y="1170432"/>
            <a:ext cx="1554480" cy="566928"/>
          </a:xfrm>
          <a:prstGeom prst="rect">
            <a:avLst/>
          </a:prstGeom>
          <a:noFill/>
          <a:ln/>
        </p:spPr>
        <p:txBody>
          <a:bodyPr wrap="square" lIns="0" tIns="0" rIns="0" bIns="0" rtlCol="0" anchor="ctr"/>
          <a:lstStyle/>
          <a:p>
            <a:pPr algn="ctr" indent="0" marL="0">
              <a:buNone/>
            </a:pPr>
            <a:r>
              <a:rPr lang="en-US" sz="2800" b="1" dirty="0">
                <a:solidFill>
                  <a:srgbClr val="3A9D5D"/>
                </a:solidFill>
                <a:latin typeface="Calibri" pitchFamily="34" charset="0"/>
                <a:ea typeface="Calibri" pitchFamily="34" charset="-122"/>
                <a:cs typeface="Calibri" pitchFamily="34" charset="-120"/>
              </a:rPr>
              <a:t>91.4%</a:t>
            </a:r>
            <a:endParaRPr lang="en-US" sz="2800" dirty="0"/>
          </a:p>
        </p:txBody>
      </p:sp>
      <p:sp>
        <p:nvSpPr>
          <p:cNvPr id="7" name="Text 3"/>
          <p:cNvSpPr txBox="1"/>
          <p:nvPr/>
        </p:nvSpPr>
        <p:spPr>
          <a:xfrm>
            <a:off x="5577840" y="1719072"/>
            <a:ext cx="137160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coverage of 90% intervals (fold 4)</a:t>
            </a:r>
            <a:endParaRPr lang="en-US" sz="1100" dirty="0"/>
          </a:p>
        </p:txBody>
      </p:sp>
      <p:sp>
        <p:nvSpPr>
          <p:cNvPr id="8" name="stat card 51.8%"/>
          <p:cNvSpPr/>
          <p:nvPr/>
        </p:nvSpPr>
        <p:spPr>
          <a:xfrm>
            <a:off x="7178040" y="1097280"/>
            <a:ext cx="1554480" cy="1143000"/>
          </a:xfrm>
          <a:prstGeom prst="roundRect">
            <a:avLst>
              <a:gd name="adj" fmla="val 6400"/>
            </a:avLst>
          </a:prstGeom>
          <a:solidFill>
            <a:srgbClr val="F3F6F9"/>
          </a:solidFill>
          <a:ln w="9525">
            <a:solidFill>
              <a:srgbClr val="D5DDE5"/>
            </a:solidFill>
            <a:prstDash val="solid"/>
          </a:ln>
        </p:spPr>
      </p:sp>
      <p:sp>
        <p:nvSpPr>
          <p:cNvPr id="9" name="Text 5"/>
          <p:cNvSpPr txBox="1"/>
          <p:nvPr/>
        </p:nvSpPr>
        <p:spPr>
          <a:xfrm>
            <a:off x="7178040" y="1170432"/>
            <a:ext cx="1554480" cy="566928"/>
          </a:xfrm>
          <a:prstGeom prst="rect">
            <a:avLst/>
          </a:prstGeom>
          <a:noFill/>
          <a:ln/>
        </p:spPr>
        <p:txBody>
          <a:bodyPr wrap="square" lIns="0" tIns="0" rIns="0" bIns="0" rtlCol="0" anchor="ctr"/>
          <a:lstStyle/>
          <a:p>
            <a:pPr algn="ctr" indent="0" marL="0">
              <a:buNone/>
            </a:pPr>
            <a:r>
              <a:rPr lang="en-US" sz="2800" b="1" dirty="0">
                <a:solidFill>
                  <a:srgbClr val="3A9D5D"/>
                </a:solidFill>
                <a:latin typeface="Calibri" pitchFamily="34" charset="0"/>
                <a:ea typeface="Calibri" pitchFamily="34" charset="-122"/>
                <a:cs typeface="Calibri" pitchFamily="34" charset="-120"/>
              </a:rPr>
              <a:t>51.8%</a:t>
            </a:r>
            <a:endParaRPr lang="en-US" sz="2800" dirty="0"/>
          </a:p>
        </p:txBody>
      </p:sp>
      <p:sp>
        <p:nvSpPr>
          <p:cNvPr id="10" name="Text 6"/>
          <p:cNvSpPr txBox="1"/>
          <p:nvPr/>
        </p:nvSpPr>
        <p:spPr>
          <a:xfrm>
            <a:off x="7269480" y="1719072"/>
            <a:ext cx="1371600" cy="457200"/>
          </a:xfrm>
          <a:prstGeom prst="rect">
            <a:avLst/>
          </a:prstGeom>
          <a:noFill/>
          <a:ln/>
        </p:spPr>
        <p:txBody>
          <a:bodyPr wrap="square" lIns="0" tIns="0" rIns="0" bIns="0" rtlCol="0" anchor="t"/>
          <a:lstStyle/>
          <a:p>
            <a:pPr algn="ctr" indent="0" marL="0">
              <a:buNone/>
            </a:pPr>
            <a:r>
              <a:rPr lang="en-US" sz="1100" dirty="0">
                <a:solidFill>
                  <a:srgbClr val="5B6B7B"/>
                </a:solidFill>
                <a:latin typeface="Calibri" pitchFamily="34" charset="0"/>
                <a:ea typeface="Calibri" pitchFamily="34" charset="-122"/>
                <a:cs typeface="Calibri" pitchFamily="34" charset="-120"/>
              </a:rPr>
              <a:t>coverage of 50% intervals</a:t>
            </a:r>
            <a:endParaRPr lang="en-US" sz="1100" dirty="0"/>
          </a:p>
        </p:txBody>
      </p:sp>
      <p:sp>
        <p:nvSpPr>
          <p:cNvPr id="11" name="Text 7"/>
          <p:cNvSpPr txBox="1"/>
          <p:nvPr/>
        </p:nvSpPr>
        <p:spPr>
          <a:xfrm>
            <a:off x="5486400" y="2468880"/>
            <a:ext cx="3291840" cy="1828800"/>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Calibrated on folds 1-3, scored on fold 4 only</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Cells: horizon bin x series-volume tier</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Every forecast row carries 50% and 90% bands</a:t>
            </a:r>
            <a:endParaRPr lang="en-US" sz="12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What drives accuracy: ablation across all four folds</a:t>
            </a:r>
            <a:endParaRPr lang="en-US" sz="2400" dirty="0"/>
          </a:p>
        </p:txBody>
      </p:sp>
      <p:pic>
        <p:nvPicPr>
          <p:cNvPr id="4" name="ablation" descr="ablation">    </p:cNvPr>
          <p:cNvPicPr>
            <a:picLocks noChangeAspect="1"/>
          </p:cNvPicPr>
          <p:nvPr/>
        </p:nvPicPr>
        <p:blipFill>
          <a:blip r:embed="rId1"/>
          <a:stretch>
            <a:fillRect/>
          </a:stretch>
        </p:blipFill>
        <p:spPr>
          <a:xfrm>
            <a:off x="411480" y="1621964"/>
            <a:ext cx="5394960" cy="1876712"/>
          </a:xfrm>
          <a:prstGeom prst="rect">
            <a:avLst/>
          </a:prstGeom>
        </p:spPr>
      </p:pic>
      <p:sp>
        <p:nvSpPr>
          <p:cNvPr id="5" name="Text 1"/>
          <p:cNvSpPr txBox="1"/>
          <p:nvPr/>
        </p:nvSpPr>
        <p:spPr>
          <a:xfrm>
            <a:off x="5897880" y="1097280"/>
            <a:ext cx="2834640" cy="3566160"/>
          </a:xfrm>
          <a:prstGeom prst="rect">
            <a:avLst/>
          </a:prstGeom>
          <a:noFill/>
          <a:ln/>
        </p:spPr>
        <p:txBody>
          <a:bodyPr wrap="square" lIns="635" tIns="635" rIns="635" bIns="635" rtlCol="0" anchor="t"/>
          <a:lstStyle/>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Seasonal lags: +9.2% WMAPE if removed (all 4 folds)</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Promotions: +3.1%, and RMSLE +0.04 (3 of 4 folds)</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Calendar and holidays: +2.3% (3 of 4 folds)</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Store traffic: about 0 - not useful beyond sales history</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Availability proxy: -1.8% WMAPE but worse RMSLE - mixed</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Autoregressive only: +17% - exogenous drivers do add value</a:t>
            </a:r>
            <a:endParaRPr lang="en-US" sz="115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Explaining individual forecasts: exact group-Shapley drivers</a:t>
            </a:r>
            <a:endParaRPr lang="en-US" sz="2400" dirty="0"/>
          </a:p>
        </p:txBody>
      </p:sp>
      <p:pic>
        <p:nvPicPr>
          <p:cNvPr id="4" name="local attribution" descr="local attribution">    </p:cNvPr>
          <p:cNvPicPr>
            <a:picLocks noChangeAspect="1"/>
          </p:cNvPicPr>
          <p:nvPr/>
        </p:nvPicPr>
        <p:blipFill>
          <a:blip r:embed="rId1"/>
          <a:stretch>
            <a:fillRect/>
          </a:stretch>
        </p:blipFill>
        <p:spPr>
          <a:xfrm>
            <a:off x="411480" y="1203722"/>
            <a:ext cx="6035040" cy="3353275"/>
          </a:xfrm>
          <a:prstGeom prst="rect">
            <a:avLst/>
          </a:prstGeom>
        </p:spPr>
      </p:pic>
      <p:sp>
        <p:nvSpPr>
          <p:cNvPr id="5" name="Text 1"/>
          <p:cNvSpPr txBox="1"/>
          <p:nvPr/>
        </p:nvSpPr>
        <p:spPr>
          <a:xfrm>
            <a:off x="6583680" y="1097280"/>
            <a:ext cx="2194560" cy="3657600"/>
          </a:xfrm>
          <a:prstGeom prst="rect">
            <a:avLst/>
          </a:prstGeom>
          <a:noFill/>
          <a:ln/>
        </p:spPr>
        <p:txBody>
          <a:bodyPr wrap="square" lIns="635" tIns="635" rIns="635" bIns="635" rtlCol="0" anchor="t"/>
          <a:lstStyle/>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Promotions add about +5% to the two largest grocery series and +8% to the seasonal beverage series</a:t>
            </a:r>
            <a:endParaRPr lang="en-US" sz="1100" dirty="0"/>
          </a:p>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Seasonality (year-ago pattern) pulls the beverage series down about 11%</a:t>
            </a:r>
            <a:endParaRPr lang="en-US" sz="1100" dirty="0"/>
          </a:p>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Global permutation importance: promotions, then momentum, scale, seasonality</a:t>
            </a:r>
            <a:endParaRPr lang="en-US" sz="1100" dirty="0"/>
          </a:p>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Effects are relative to a typical series; they sum exactly to the model output</a:t>
            </a:r>
            <a:endParaRPr lang="en-US" sz="11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What the forecast looks like: examples with 50% / 90% bands</a:t>
            </a:r>
            <a:endParaRPr lang="en-US" sz="2400" dirty="0"/>
          </a:p>
        </p:txBody>
      </p:sp>
      <p:pic>
        <p:nvPicPr>
          <p:cNvPr id="4" name="forecast examples" descr="forecast examples">    </p:cNvPr>
          <p:cNvPicPr>
            <a:picLocks noChangeAspect="1"/>
          </p:cNvPicPr>
          <p:nvPr/>
        </p:nvPicPr>
        <p:blipFill>
          <a:blip r:embed="rId1"/>
          <a:stretch>
            <a:fillRect/>
          </a:stretch>
        </p:blipFill>
        <p:spPr>
          <a:xfrm>
            <a:off x="411480" y="1244488"/>
            <a:ext cx="6035040" cy="3271743"/>
          </a:xfrm>
          <a:prstGeom prst="rect">
            <a:avLst/>
          </a:prstGeom>
        </p:spPr>
      </p:pic>
      <p:sp>
        <p:nvSpPr>
          <p:cNvPr id="5" name="Text 1"/>
          <p:cNvSpPr txBox="1"/>
          <p:nvPr/>
        </p:nvSpPr>
        <p:spPr>
          <a:xfrm>
            <a:off x="6583680" y="1097280"/>
            <a:ext cx="2194560" cy="3657600"/>
          </a:xfrm>
          <a:prstGeom prst="rect">
            <a:avLst/>
          </a:prstGeom>
          <a:noFill/>
          <a:ln/>
        </p:spPr>
        <p:txBody>
          <a:bodyPr wrap="square" lIns="635" tIns="635" rIns="635" bIns="635" rtlCol="0" anchor="t"/>
          <a:lstStyle/>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Total: about 77.8M units over 13 weeks (14 Aug to 12 Nov 2017), peaking the week of 30 Oct</a:t>
            </a:r>
            <a:endParaRPr lang="en-US" sz="1100" dirty="0"/>
          </a:p>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23,166 rows with 50% and 90% intervals; flags for cold-start and delisted series</a:t>
            </a:r>
            <a:endParaRPr lang="en-US" sz="1100" dirty="0"/>
          </a:p>
          <a:p>
            <a:pPr marL="342900" indent="-342900">
              <a:spcAft>
                <a:spcPts val="600"/>
              </a:spcAft>
              <a:buSzPct val="100000"/>
              <a:buChar char="•"/>
            </a:pPr>
            <a:r>
              <a:rPr lang="en-US" sz="1100" dirty="0">
                <a:solidFill>
                  <a:srgbClr val="1B2A41"/>
                </a:solidFill>
                <a:latin typeface="Calibri" pitchFamily="34" charset="0"/>
                <a:ea typeface="Calibri" pitchFamily="34" charset="-122"/>
                <a:cs typeface="Calibri" pitchFamily="34" charset="-120"/>
              </a:rPr>
              <a:t>Bands widen with horizon; the cold-start series (store 52) gets a sensible level from 16 weeks of history</a:t>
            </a:r>
            <a:endParaRPr lang="en-US" sz="11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Scenarios: what changes if promotion intensity changes</a:t>
            </a:r>
            <a:endParaRPr lang="en-US" sz="2400" dirty="0"/>
          </a:p>
        </p:txBody>
      </p:sp>
      <p:pic>
        <p:nvPicPr>
          <p:cNvPr id="4" name="scenarios" descr="scenarios">    </p:cNvPr>
          <p:cNvPicPr>
            <a:picLocks noChangeAspect="1"/>
          </p:cNvPicPr>
          <p:nvPr/>
        </p:nvPicPr>
        <p:blipFill>
          <a:blip r:embed="rId1"/>
          <a:stretch>
            <a:fillRect/>
          </a:stretch>
        </p:blipFill>
        <p:spPr>
          <a:xfrm>
            <a:off x="411480" y="1090509"/>
            <a:ext cx="5669280" cy="1933781"/>
          </a:xfrm>
          <a:prstGeom prst="rect">
            <a:avLst/>
          </a:prstGeom>
        </p:spPr>
      </p:pic>
      <p:sp>
        <p:nvSpPr>
          <p:cNvPr id="5" name="Text 1"/>
          <p:cNvSpPr txBox="1"/>
          <p:nvPr/>
        </p:nvSpPr>
        <p:spPr>
          <a:xfrm>
            <a:off x="411480" y="3200400"/>
            <a:ext cx="5669280" cy="1554480"/>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No promotions: -7.3% units; +25% / +50% / x2 intensity: +1.1% / +2.2% / +4.0%</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Response is roughly linear and mildly diminishing; extrapolation is capped at 1.5x each series' history</a:t>
            </a:r>
            <a:endParaRPr lang="en-US" sz="1200" dirty="0"/>
          </a:p>
          <a:p>
            <a:pPr marL="342900" indent="-3429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Strongest responders: Produce, Beverages, Grocery I; seasonal lines are most sensitive</a:t>
            </a:r>
            <a:endParaRPr lang="en-US" sz="1200" dirty="0"/>
          </a:p>
        </p:txBody>
      </p:sp>
      <p:sp>
        <p:nvSpPr>
          <p:cNvPr id="6" name="caution card"/>
          <p:cNvSpPr/>
          <p:nvPr/>
        </p:nvSpPr>
        <p:spPr>
          <a:xfrm>
            <a:off x="6263640" y="1097280"/>
            <a:ext cx="2468880" cy="3566160"/>
          </a:xfrm>
          <a:prstGeom prst="roundRect">
            <a:avLst>
              <a:gd name="adj" fmla="val 2963"/>
            </a:avLst>
          </a:prstGeom>
          <a:solidFill>
            <a:srgbClr val="FDF1E6"/>
          </a:solidFill>
          <a:ln w="12700">
            <a:solidFill>
              <a:srgbClr val="E07A1F"/>
            </a:solidFill>
            <a:prstDash val="solid"/>
          </a:ln>
        </p:spPr>
      </p:sp>
      <p:sp>
        <p:nvSpPr>
          <p:cNvPr id="7" name="Text 3"/>
          <p:cNvSpPr txBox="1"/>
          <p:nvPr/>
        </p:nvSpPr>
        <p:spPr>
          <a:xfrm>
            <a:off x="6355080" y="1188720"/>
            <a:ext cx="2286000" cy="3383280"/>
          </a:xfrm>
          <a:prstGeom prst="rect">
            <a:avLst/>
          </a:prstGeom>
          <a:noFill/>
          <a:ln/>
        </p:spPr>
        <p:txBody>
          <a:bodyPr wrap="square" rtlCol="0" anchor="t"/>
          <a:lstStyle/>
          <a:p>
            <a:pPr indent="0" marL="0">
              <a:spcAft>
                <a:spcPts val="600"/>
              </a:spcAft>
              <a:buNone/>
            </a:pPr>
            <a:r>
              <a:rPr lang="en-US" sz="1200" b="1" dirty="0">
                <a:solidFill>
                  <a:srgbClr val="E07A1F"/>
                </a:solidFill>
                <a:latin typeface="Calibri" pitchFamily="34" charset="0"/>
                <a:ea typeface="Calibri" pitchFamily="34" charset="-122"/>
                <a:cs typeface="Calibri" pitchFamily="34" charset="-120"/>
              </a:rPr>
              <a:t>Use with care</a:t>
            </a:r>
            <a:endParaRPr lang="en-US" sz="1200" dirty="0"/>
          </a:p>
          <a:p>
            <a:pPr indent="0" marL="0">
              <a:spcAft>
                <a:spcPts val="600"/>
              </a:spcAft>
              <a:buNone/>
            </a:pPr>
            <a:r>
              <a:rPr lang="en-US" sz="1200" dirty="0">
                <a:solidFill>
                  <a:srgbClr val="1B2A41"/>
                </a:solidFill>
                <a:latin typeface="Calibri" pitchFamily="34" charset="0"/>
                <a:ea typeface="Calibri" pitchFamily="34" charset="-122"/>
                <a:cs typeface="Calibri" pitchFamily="34" charset="-120"/>
              </a:rPr>
              <a:t>Promotions were not randomised: these are associations, not causal lift.</a:t>
            </a:r>
            <a:endParaRPr lang="en-US" sz="1200" dirty="0"/>
          </a:p>
          <a:p>
            <a:pPr indent="0" marL="0">
              <a:spcAft>
                <a:spcPts val="600"/>
              </a:spcAft>
              <a:buNone/>
            </a:pPr>
            <a:r>
              <a:rPr lang="en-US" sz="1200" dirty="0">
                <a:solidFill>
                  <a:srgbClr val="1B2A41"/>
                </a:solidFill>
                <a:latin typeface="Calibri" pitchFamily="34" charset="0"/>
                <a:ea typeface="Calibri" pitchFamily="34" charset="-122"/>
                <a:cs typeface="Calibri" pitchFamily="34" charset="-120"/>
              </a:rPr>
              <a:t>Extreme cases can be implausible (school supplies -96% with no promo).</a:t>
            </a:r>
            <a:endParaRPr lang="en-US" sz="1200" dirty="0"/>
          </a:p>
          <a:p>
            <a:pPr indent="0" marL="0">
              <a:spcAft>
                <a:spcPts val="600"/>
              </a:spcAft>
              <a:buNone/>
            </a:pPr>
            <a:r>
              <a:rPr lang="en-US" sz="1200" dirty="0">
                <a:solidFill>
                  <a:srgbClr val="1B2A41"/>
                </a:solidFill>
                <a:latin typeface="Calibri" pitchFamily="34" charset="0"/>
                <a:ea typeface="Calibri" pitchFamily="34" charset="-122"/>
                <a:cs typeface="Calibri" pitchFamily="34" charset="-120"/>
              </a:rPr>
              <a:t>Traffic -10% moves demand only -0.06%: the model barely uses traffic, so this is a sensitivity check, not insight.</a:t>
            </a:r>
            <a:endParaRPr lang="en-US" sz="12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Beyond the minimum: evidence-based extras</a:t>
            </a:r>
            <a:endParaRPr lang="en-US" sz="2400" dirty="0"/>
          </a:p>
        </p:txBody>
      </p:sp>
      <p:sp>
        <p:nvSpPr>
          <p:cNvPr id="4" name="Text 1"/>
          <p:cNvSpPr txBox="1"/>
          <p:nvPr/>
        </p:nvSpPr>
        <p:spPr>
          <a:xfrm>
            <a:off x="411480" y="1097280"/>
            <a:ext cx="8321040" cy="36576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1B2A41"/>
                </a:solidFill>
                <a:latin typeface="Calibri" pitchFamily="34" charset="0"/>
                <a:ea typeface="Calibri" pitchFamily="34" charset="-122"/>
                <a:cs typeface="Calibri" pitchFamily="34" charset="-120"/>
              </a:rPr>
              <a:t>Global vs per-series: one model for 1,782 series, direct horizon, relative log target with volume and recency weighting</a:t>
            </a:r>
            <a:endParaRPr lang="en-US" sz="1500" dirty="0"/>
          </a:p>
          <a:p>
            <a:pPr marL="342900" indent="-342900">
              <a:spcAft>
                <a:spcPts val="600"/>
              </a:spcAft>
              <a:buSzPct val="100000"/>
              <a:buChar char="•"/>
            </a:pPr>
            <a:r>
              <a:rPr lang="en-US" sz="1500" dirty="0">
                <a:solidFill>
                  <a:srgbClr val="1B2A41"/>
                </a:solidFill>
                <a:latin typeface="Calibri" pitchFamily="34" charset="0"/>
                <a:ea typeface="Calibri" pitchFamily="34" charset="-122"/>
                <a:cs typeface="Calibri" pitchFamily="34" charset="-120"/>
              </a:rPr>
              <a:t>Hybrid statistical + ML ensemble, with weights chosen on earlier folds only</a:t>
            </a:r>
            <a:endParaRPr lang="en-US" sz="1500" dirty="0"/>
          </a:p>
          <a:p>
            <a:pPr marL="342900" indent="-342900">
              <a:spcAft>
                <a:spcPts val="600"/>
              </a:spcAft>
              <a:buSzPct val="100000"/>
              <a:buChar char="•"/>
            </a:pPr>
            <a:r>
              <a:rPr lang="en-US" sz="1500" dirty="0">
                <a:solidFill>
                  <a:srgbClr val="1B2A41"/>
                </a:solidFill>
                <a:latin typeface="Calibri" pitchFamily="34" charset="0"/>
                <a:ea typeface="Calibri" pitchFamily="34" charset="-122"/>
                <a:cs typeface="Calibri" pitchFamily="34" charset="-120"/>
              </a:rPr>
              <a:t>Reporting-gap detection that is leakage-safe (only gaps already over at each origin)</a:t>
            </a:r>
            <a:endParaRPr lang="en-US" sz="1500" dirty="0"/>
          </a:p>
          <a:p>
            <a:pPr marL="342900" indent="-342900">
              <a:spcAft>
                <a:spcPts val="600"/>
              </a:spcAft>
              <a:buSzPct val="100000"/>
              <a:buChar char="•"/>
            </a:pPr>
            <a:r>
              <a:rPr lang="en-US" sz="1500" dirty="0">
                <a:solidFill>
                  <a:srgbClr val="1B2A41"/>
                </a:solidFill>
                <a:latin typeface="Calibri" pitchFamily="34" charset="0"/>
                <a:ea typeface="Calibri" pitchFamily="34" charset="-122"/>
                <a:cs typeface="Calibri" pitchFamily="34" charset="-120"/>
              </a:rPr>
              <a:t>Business rules checked against data: the first delisting rule zeroed 311 forecasts that later had sales; a seasonal exception fixed RMSLE 0.417 to 0.398</a:t>
            </a:r>
            <a:endParaRPr lang="en-US" sz="1500" dirty="0"/>
          </a:p>
          <a:p>
            <a:pPr marL="342900" indent="-342900">
              <a:spcAft>
                <a:spcPts val="600"/>
              </a:spcAft>
              <a:buSzPct val="100000"/>
              <a:buChar char="•"/>
            </a:pPr>
            <a:r>
              <a:rPr lang="en-US" sz="1500" dirty="0">
                <a:solidFill>
                  <a:srgbClr val="1B2A41"/>
                </a:solidFill>
                <a:latin typeface="Calibri" pitchFamily="34" charset="0"/>
                <a:ea typeface="Calibri" pitchFamily="34" charset="-122"/>
                <a:cs typeface="Calibri" pitchFamily="34" charset="-120"/>
              </a:rPr>
              <a:t>Conformal intervals by horizon x volume tier, verified on an untouched fold</a:t>
            </a:r>
            <a:endParaRPr lang="en-US" sz="1500" dirty="0"/>
          </a:p>
          <a:p>
            <a:pPr marL="342900" indent="-342900">
              <a:spcAft>
                <a:spcPts val="600"/>
              </a:spcAft>
              <a:buSzPct val="100000"/>
              <a:buChar char="•"/>
            </a:pPr>
            <a:r>
              <a:rPr lang="en-US" sz="1500" dirty="0">
                <a:solidFill>
                  <a:srgbClr val="1B2A41"/>
                </a:solidFill>
                <a:latin typeface="Calibri" pitchFamily="34" charset="0"/>
                <a:ea typeface="Calibri" pitchFamily="34" charset="-122"/>
                <a:cs typeface="Calibri" pitchFamily="34" charset="-120"/>
              </a:rPr>
              <a:t>Exact group-Shapley local explanations (no external library) and a promo scenario simulator with response curves</a:t>
            </a:r>
            <a:endParaRPr lang="en-US" sz="1500" dirty="0"/>
          </a:p>
          <a:p>
            <a:pPr marL="342900" indent="-342900">
              <a:spcAft>
                <a:spcPts val="600"/>
              </a:spcAft>
              <a:buSzPct val="100000"/>
              <a:buChar char="•"/>
            </a:pPr>
            <a:r>
              <a:rPr lang="en-US" sz="1500" dirty="0">
                <a:solidFill>
                  <a:srgbClr val="1B2A41"/>
                </a:solidFill>
                <a:latin typeface="Calibri" pitchFamily="34" charset="0"/>
                <a:ea typeface="Calibri" pitchFamily="34" charset="-122"/>
                <a:cs typeface="Calibri" pitchFamily="34" charset="-120"/>
              </a:rPr>
              <a:t>A unit test that scrambles all post-origin data to prove no leakage</a:t>
            </a:r>
            <a:endParaRPr lang="en-US" sz="15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Limitations and recommendations for business use</a:t>
            </a:r>
            <a:endParaRPr lang="en-US" sz="2400" dirty="0"/>
          </a:p>
        </p:txBody>
      </p:sp>
      <p:sp>
        <p:nvSpPr>
          <p:cNvPr id="4" name="Text 1"/>
          <p:cNvSpPr txBox="1"/>
          <p:nvPr/>
        </p:nvSpPr>
        <p:spPr>
          <a:xfrm>
            <a:off x="411480" y="1005840"/>
            <a:ext cx="4023360" cy="320040"/>
          </a:xfrm>
          <a:prstGeom prst="rect">
            <a:avLst/>
          </a:prstGeom>
          <a:noFill/>
          <a:ln/>
        </p:spPr>
        <p:txBody>
          <a:bodyPr wrap="square" lIns="0" tIns="0" rIns="0" bIns="0" rtlCol="0" anchor="ctr"/>
          <a:lstStyle/>
          <a:p>
            <a:pPr indent="0" marL="0">
              <a:buNone/>
            </a:pPr>
            <a:r>
              <a:rPr lang="en-US" sz="1500" b="1" dirty="0">
                <a:solidFill>
                  <a:srgbClr val="C0392B"/>
                </a:solidFill>
              </a:rPr>
              <a:t>Limitations</a:t>
            </a:r>
            <a:endParaRPr lang="en-US" sz="1500" dirty="0"/>
          </a:p>
        </p:txBody>
      </p:sp>
      <p:sp>
        <p:nvSpPr>
          <p:cNvPr id="5" name="Text 2"/>
          <p:cNvSpPr txBox="1"/>
          <p:nvPr/>
        </p:nvSpPr>
        <p:spPr>
          <a:xfrm>
            <a:off x="411480" y="1371600"/>
            <a:ext cx="4114800" cy="3383280"/>
          </a:xfrm>
          <a:prstGeom prst="rect">
            <a:avLst/>
          </a:prstGeom>
          <a:noFill/>
          <a:ln/>
        </p:spPr>
        <p:txBody>
          <a:bodyPr wrap="square" lIns="635" tIns="635" rIns="635" bIns="635" rtlCol="0" anchor="t"/>
          <a:lstStyle/>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No price, weather, media or true distribution data: proxies only</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Product families, not individual SKUs</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Promo plan beyond week 3 is assumed (last 28 days)</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Small-volume series: WMAPE about 49%, barely better than naive</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Scenario effects are associations, not causal</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Fold 3 margin thin; ensemble gain over GBM is small</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Settings (volume weight, cold-start choice) chosen on the CV folds: results slightly optimistic</a:t>
            </a:r>
            <a:endParaRPr lang="en-US" sz="1150" dirty="0"/>
          </a:p>
        </p:txBody>
      </p:sp>
      <p:sp>
        <p:nvSpPr>
          <p:cNvPr id="6" name="Text 3"/>
          <p:cNvSpPr txBox="1"/>
          <p:nvPr/>
        </p:nvSpPr>
        <p:spPr>
          <a:xfrm>
            <a:off x="4709160" y="1005840"/>
            <a:ext cx="4023360" cy="320040"/>
          </a:xfrm>
          <a:prstGeom prst="rect">
            <a:avLst/>
          </a:prstGeom>
          <a:noFill/>
          <a:ln/>
        </p:spPr>
        <p:txBody>
          <a:bodyPr wrap="square" lIns="0" tIns="0" rIns="0" bIns="0" rtlCol="0" anchor="ctr"/>
          <a:lstStyle/>
          <a:p>
            <a:pPr indent="0" marL="0">
              <a:buNone/>
            </a:pPr>
            <a:r>
              <a:rPr lang="en-US" sz="1500" b="1" dirty="0">
                <a:solidFill>
                  <a:srgbClr val="3A9D5D"/>
                </a:solidFill>
              </a:rPr>
              <a:t>Recommendations</a:t>
            </a:r>
            <a:endParaRPr lang="en-US" sz="1500" dirty="0"/>
          </a:p>
        </p:txBody>
      </p:sp>
      <p:sp>
        <p:nvSpPr>
          <p:cNvPr id="7" name="Text 4"/>
          <p:cNvSpPr txBox="1"/>
          <p:nvPr/>
        </p:nvSpPr>
        <p:spPr>
          <a:xfrm>
            <a:off x="4709160" y="1371600"/>
            <a:ext cx="4023360" cy="3383280"/>
          </a:xfrm>
          <a:prstGeom prst="rect">
            <a:avLst/>
          </a:prstGeom>
          <a:noFill/>
          <a:ln/>
        </p:spPr>
        <p:txBody>
          <a:bodyPr wrap="square" lIns="635" tIns="635" rIns="635" bIns="635" rtlCol="0" anchor="t"/>
          <a:lstStyle/>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Plan inventory on the aggregate and large-line forecasts; apply the 90% band as safety-stock input</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Feed the real trade-promotion calendar: with the plan unknown, RMSLE worsens from 0.40 to 0.45</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Run a promo test before using lift numbers; collect price and discount depth</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Retrain monthly; monitor bias (-3%) and interval coverage</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Flag reporting gaps and launches at source so zeros are not read as demand</a:t>
            </a:r>
            <a:endParaRPr lang="en-US" sz="1150" dirty="0"/>
          </a:p>
          <a:p>
            <a:pPr marL="342900" indent="-342900">
              <a:spcAft>
                <a:spcPts val="600"/>
              </a:spcAft>
              <a:buSzPct val="100000"/>
              <a:buChar char="•"/>
            </a:pPr>
            <a:r>
              <a:rPr lang="en-US" sz="1150" dirty="0">
                <a:solidFill>
                  <a:srgbClr val="1B2A41"/>
                </a:solidFill>
                <a:latin typeface="Calibri" pitchFamily="34" charset="0"/>
                <a:ea typeface="Calibri" pitchFamily="34" charset="-122"/>
                <a:cs typeface="Calibri" pitchFamily="34" charset="-120"/>
              </a:rPr>
              <a:t>Add price, distribution and weather data to unlock the missing drivers</a:t>
            </a:r>
            <a:endParaRPr lang="en-US" sz="115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11480" y="201168"/>
            <a:ext cx="8321040" cy="685800"/>
          </a:xfrm>
          <a:prstGeom prst="rect">
            <a:avLst/>
          </a:prstGeom>
          <a:noFill/>
          <a:ln/>
        </p:spPr>
        <p:txBody>
          <a:bodyPr wrap="square" rtlCol="0" anchor="ctr"/>
          <a:lstStyle/>
          <a:p>
            <a:pPr indent="0" marL="0">
              <a:buNone/>
            </a:pPr>
            <a:r>
              <a:rPr lang="en-US" sz="2400" b="1" dirty="0">
                <a:solidFill>
                  <a:srgbClr val="1B2A41"/>
                </a:solidFill>
                <a:latin typeface="Calibri" pitchFamily="34" charset="0"/>
                <a:ea typeface="Calibri" pitchFamily="34" charset="-122"/>
                <a:cs typeface="Calibri" pitchFamily="34" charset="-120"/>
              </a:rPr>
              <a:t>Appendix: reproducibility and deliverables</a:t>
            </a:r>
            <a:endParaRPr lang="en-US" sz="2400" dirty="0"/>
          </a:p>
        </p:txBody>
      </p:sp>
      <p:sp>
        <p:nvSpPr>
          <p:cNvPr id="4" name="Text 1"/>
          <p:cNvSpPr txBox="1"/>
          <p:nvPr/>
        </p:nvSpPr>
        <p:spPr>
          <a:xfrm>
            <a:off x="411480" y="1188720"/>
            <a:ext cx="8321040" cy="34747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B2A41"/>
                </a:solidFill>
                <a:latin typeface="Calibri" pitchFamily="34" charset="0"/>
                <a:ea typeface="Calibri" pitchFamily="34" charset="-122"/>
                <a:cs typeface="Calibri" pitchFamily="34" charset="-120"/>
              </a:rPr>
              <a:t>pip install -r requirements.txt, then python run_pipeline.py (about 8-10 minutes on 1 CPU)</a:t>
            </a:r>
            <a:endParaRPr lang="en-US" sz="1600" dirty="0"/>
          </a:p>
          <a:p>
            <a:pPr marL="342900" indent="-342900">
              <a:spcAft>
                <a:spcPts val="600"/>
              </a:spcAft>
              <a:buSzPct val="100000"/>
              <a:buChar char="•"/>
            </a:pPr>
            <a:r>
              <a:rPr lang="en-US" sz="1600" dirty="0">
                <a:solidFill>
                  <a:srgbClr val="1B2A41"/>
                </a:solidFill>
                <a:latin typeface="Calibri" pitchFamily="34" charset="0"/>
                <a:ea typeface="Calibri" pitchFamily="34" charset="-122"/>
                <a:cs typeface="Calibri" pitchFamily="34" charset="-120"/>
              </a:rPr>
              <a:t>python tests/test_pipeline.py runs six tests including the future-leakage test</a:t>
            </a:r>
            <a:endParaRPr lang="en-US" sz="1600" dirty="0"/>
          </a:p>
          <a:p>
            <a:pPr marL="342900" indent="-342900">
              <a:spcAft>
                <a:spcPts val="600"/>
              </a:spcAft>
              <a:buSzPct val="100000"/>
              <a:buChar char="•"/>
            </a:pPr>
            <a:r>
              <a:rPr lang="en-US" sz="1600" dirty="0">
                <a:solidFill>
                  <a:srgbClr val="1B2A41"/>
                </a:solidFill>
                <a:latin typeface="Calibri" pitchFamily="34" charset="0"/>
                <a:ea typeface="Calibri" pitchFamily="34" charset="-122"/>
                <a:cs typeface="Calibri" pitchFamily="34" charset="-120"/>
              </a:rPr>
              <a:t>Forecast file: outputs/forecast_13w.csv (date, market_id, sku_id, forecast, 50% / 90% bounds)</a:t>
            </a:r>
            <a:endParaRPr lang="en-US" sz="1600" dirty="0"/>
          </a:p>
          <a:p>
            <a:pPr marL="342900" indent="-342900">
              <a:spcAft>
                <a:spcPts val="600"/>
              </a:spcAft>
              <a:buSzPct val="100000"/>
              <a:buChar char="•"/>
            </a:pPr>
            <a:r>
              <a:rPr lang="en-US" sz="1600" dirty="0">
                <a:solidFill>
                  <a:srgbClr val="1B2A41"/>
                </a:solidFill>
                <a:latin typeface="Calibri" pitchFamily="34" charset="0"/>
                <a:ea typeface="Calibri" pitchFamily="34" charset="-122"/>
                <a:cs typeface="Calibri" pitchFamily="34" charset="-120"/>
              </a:rPr>
              <a:t>Reports: data-quality and EDA, project report, this deck; all tables as CSV in outputs/tables</a:t>
            </a:r>
            <a:endParaRPr lang="en-US" sz="1600" dirty="0"/>
          </a:p>
          <a:p>
            <a:pPr marL="342900" indent="-342900">
              <a:spcAft>
                <a:spcPts val="600"/>
              </a:spcAft>
              <a:buSzPct val="100000"/>
              <a:buChar char="•"/>
            </a:pPr>
            <a:r>
              <a:rPr lang="en-US" sz="1600" dirty="0">
                <a:solidFill>
                  <a:srgbClr val="1B2A41"/>
                </a:solidFill>
                <a:latin typeface="Calibri" pitchFamily="34" charset="0"/>
                <a:ea typeface="Calibri" pitchFamily="34" charset="-122"/>
                <a:cs typeface="Calibri" pitchFamily="34" charset="-120"/>
              </a:rPr>
              <a:t>Seeds fixed; stages cached; synthetic-data generator included</a:t>
            </a:r>
            <a:endParaRPr lang="en-US" sz="1600" dirty="0"/>
          </a:p>
        </p:txBody>
      </p:sp>
      <p:sp>
        <p:nvSpPr>
          <p:cNvPr id="25" name="Slide Number Placeholder 0"/>
          <p:cNvSpPr>
            <a:spLocks noGrp="1"/>
          </p:cNvSpPr>
          <p:nvPr>
            <p:ph type="sldNum" sz="quarter" idx="4294967295"/>
          </p:nvPr>
        </p:nvSpPr>
        <p:spPr>
          <a:xfrm>
            <a:off x="8412480" y="484632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B6B7B"/>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FreshBasket">
  <a:themeElements>
    <a:clrScheme name="FreshBasket">
      <a:dk1>
        <a:srgbClr val="1B2A41"/>
      </a:dk1>
      <a:lt1>
        <a:srgbClr val="FFFFFF"/>
      </a:lt1>
      <a:dk2>
        <a:srgbClr val="1F5F8B"/>
      </a:dk2>
      <a:lt2>
        <a:srgbClr val="F3F6F9"/>
      </a:lt2>
      <a:accent1>
        <a:srgbClr val="1F5F8B"/>
      </a:accent1>
      <a:accent2>
        <a:srgbClr val="E07A1F"/>
      </a:accent2>
      <a:accent3>
        <a:srgbClr val="3A9D5D"/>
      </a:accent3>
      <a:accent4>
        <a:srgbClr val="C0392B"/>
      </a:accent4>
      <a:accent5>
        <a:srgbClr val="7B6FB0"/>
      </a:accent5>
      <a:accent6>
        <a:srgbClr val="9AA5B1"/>
      </a:accent6>
      <a:hlink>
        <a:srgbClr val="1F5F8B"/>
      </a:hlink>
      <a:folHlink>
        <a:srgbClr val="7B6FB0"/>
      </a:folHlink>
    </a:clrScheme>
    <a:fontScheme name="FreshBaske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FreshBasket FMCG demand forecasting</dc:title>
  <dc:subject>PptxGenJS Presentation</dc:subject>
  <dc:creator>PptxGenJS</dc:creator>
  <cp:lastModifiedBy>PptxGenJS</cp:lastModifiedBy>
  <cp:revision>1</cp:revision>
  <dcterms:created xsi:type="dcterms:W3CDTF">2026-10-07T14:21:14Z</dcterms:created>
  <dcterms:modified xsi:type="dcterms:W3CDTF">2026-10-07T14:21:14Z</dcterms:modified>
</cp:coreProperties>
</file>